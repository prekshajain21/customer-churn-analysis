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3"/>
    <p:sldId id="257" r:id="rId4"/>
    <p:sldId id="264" r:id="rId5"/>
    <p:sldId id="263" r:id="rId6"/>
    <p:sldId id="262" r:id="rId7"/>
    <p:sldId id="259" r:id="rId8"/>
    <p:sldId id="276" r:id="rId9"/>
    <p:sldId id="279" r:id="rId10"/>
    <p:sldId id="272" r:id="rId11"/>
    <p:sldId id="280" r:id="rId12"/>
    <p:sldId id="281" r:id="rId13"/>
    <p:sldId id="283" r:id="rId14"/>
    <p:sldId id="284" r:id="rId15"/>
    <p:sldId id="285" r:id="rId16"/>
    <p:sldId id="268" r:id="rId17"/>
    <p:sldId id="287" r:id="rId18"/>
    <p:sldId id="286" r:id="rId19"/>
    <p:sldId id="265" r:id="rId20"/>
    <p:sldId id="269" r:id="rId21"/>
    <p:sldId id="274" r:id="rId22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Microsoft YaHei Light" panose="020B0502040204020203" pitchFamily="34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Microsoft YaHei Light" panose="020B0502040204020203" pitchFamily="34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Microsoft YaHei Light" panose="020B0502040204020203" pitchFamily="34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Microsoft YaHei Light" panose="020B0502040204020203" pitchFamily="34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Microsoft YaHei Light" panose="020B0502040204020203" pitchFamily="34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Microsoft YaHei Light" panose="020B0502040204020203" pitchFamily="34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Microsoft YaHei Light" panose="020B0502040204020203" pitchFamily="34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Microsoft YaHei Light" panose="020B0502040204020203" pitchFamily="34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Microsoft YaHei Light" panose="020B0502040204020203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771" userDrawn="1">
          <p15:clr>
            <a:srgbClr val="A4A3A4"/>
          </p15:clr>
        </p15:guide>
        <p15:guide id="2" orient="horz" pos="21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8648"/>
    <a:srgbClr val="81034D"/>
    <a:srgbClr val="1C7C5A"/>
    <a:srgbClr val="E36C64"/>
    <a:srgbClr val="675E8C"/>
    <a:srgbClr val="27282C"/>
    <a:srgbClr val="1665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000"/>
    <p:restoredTop sz="94660"/>
  </p:normalViewPr>
  <p:slideViewPr>
    <p:cSldViewPr snapToGrid="0" showGuides="1">
      <p:cViewPr>
        <p:scale>
          <a:sx n="69" d="100"/>
          <a:sy n="69" d="100"/>
        </p:scale>
        <p:origin x="780" y="216"/>
      </p:cViewPr>
      <p:guideLst>
        <p:guide pos="3771"/>
        <p:guide orient="horz" pos="2196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66" d="100"/>
        <a:sy n="66" d="100"/>
      </p:scale>
      <p:origin x="0" y="-82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notesMaster" Target="notesMasters/notesMaster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Calibri" panose="020F0502020204030204" pitchFamily="34" charset="0"/>
                <a:ea typeface="Microsoft YaHei Light" panose="020B0502040204020203" pitchFamily="34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Calibri" panose="020F0502020204030204" pitchFamily="34" charset="0"/>
                <a:ea typeface="Microsoft YaHei Light" panose="020B0502040204020203" pitchFamily="34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pPr fontAlgn="base"/>
            <a:fld id="{D2A48B96-639E-45A3-A0BA-2464DFDB1FAA}" type="datetimeFigureOut">
              <a:rPr lang="zh-CN" altLang="en-US" strike="noStrike" noProof="1" smtClean="0">
                <a:latin typeface="Calibri" panose="020F0502020204030204" pitchFamily="34" charset="0"/>
                <a:ea typeface="Arial" panose="020B0604020202020204" pitchFamily="34" charset="0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6148" name="幻灯片图像占位符 3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149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>
            <a:noFill/>
          </a:ln>
        </p:spPr>
        <p:txBody>
          <a:bodyPr lIns="91440" tIns="45720" rIns="91440" bIns="45720" anchor="t" anchorCtr="0"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Arial" panose="020B0604020202020204" pitchFamily="34" charset="0"/>
              </a:defRPr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Arial" panose="020B0604020202020204" pitchFamily="34" charset="0"/>
              </a:defRPr>
            </a:lvl1pPr>
          </a:lstStyle>
          <a:p>
            <a:pPr fontAlgn="base"/>
            <a:fld id="{A6837353-30EB-4A48-80EB-173D804AEFBD}" type="slidenum">
              <a:rPr lang="zh-CN" altLang="en-US" strike="noStrike" noProof="1" smtClean="0">
                <a:latin typeface="Calibri" panose="020F0502020204030204" pitchFamily="34" charset="0"/>
                <a:ea typeface="Arial" panose="020B0604020202020204" pitchFamily="34" charset="0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Arial" panose="020B0604020202020204" pitchFamily="34" charset="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272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>
            <a:off x="0" y="-17462"/>
            <a:ext cx="5095875" cy="4667250"/>
          </a:xfrm>
          <a:custGeom>
            <a:avLst/>
            <a:gdLst>
              <a:gd name="connsiteX0" fmla="*/ 0 w 5095525"/>
              <a:gd name="connsiteY0" fmla="*/ 0 h 4666400"/>
              <a:gd name="connsiteX1" fmla="*/ 5095525 w 5095525"/>
              <a:gd name="connsiteY1" fmla="*/ 0 h 4666400"/>
              <a:gd name="connsiteX2" fmla="*/ 2389013 w 5095525"/>
              <a:gd name="connsiteY2" fmla="*/ 4666400 h 4666400"/>
              <a:gd name="connsiteX3" fmla="*/ 0 w 5095525"/>
              <a:gd name="connsiteY3" fmla="*/ 547414 h 4666400"/>
              <a:gd name="connsiteX4" fmla="*/ 0 w 5095525"/>
              <a:gd name="connsiteY4" fmla="*/ 0 h 466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95525" h="4666400">
                <a:moveTo>
                  <a:pt x="0" y="0"/>
                </a:moveTo>
                <a:lnTo>
                  <a:pt x="5095525" y="0"/>
                </a:lnTo>
                <a:lnTo>
                  <a:pt x="2389013" y="4666400"/>
                </a:lnTo>
                <a:lnTo>
                  <a:pt x="0" y="547414"/>
                </a:lnTo>
                <a:lnTo>
                  <a:pt x="0" y="0"/>
                </a:lnTo>
                <a:close/>
              </a:path>
            </a:pathLst>
          </a:custGeom>
          <a:solidFill>
            <a:srgbClr val="1C7C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等腰三角形 7"/>
          <p:cNvSpPr/>
          <p:nvPr/>
        </p:nvSpPr>
        <p:spPr>
          <a:xfrm>
            <a:off x="315913" y="4041775"/>
            <a:ext cx="3265488" cy="2816225"/>
          </a:xfrm>
          <a:prstGeom prst="triangle">
            <a:avLst/>
          </a:prstGeom>
          <a:solidFill>
            <a:srgbClr val="E086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任意多边形 8"/>
          <p:cNvSpPr/>
          <p:nvPr/>
        </p:nvSpPr>
        <p:spPr>
          <a:xfrm>
            <a:off x="0" y="4649788"/>
            <a:ext cx="800100" cy="2208213"/>
          </a:xfrm>
          <a:custGeom>
            <a:avLst/>
            <a:gdLst>
              <a:gd name="connsiteX0" fmla="*/ 317500 w 800100"/>
              <a:gd name="connsiteY0" fmla="*/ 0 h 1676400"/>
              <a:gd name="connsiteX1" fmla="*/ 0 w 800100"/>
              <a:gd name="connsiteY1" fmla="*/ 419100 h 1676400"/>
              <a:gd name="connsiteX2" fmla="*/ 0 w 800100"/>
              <a:gd name="connsiteY2" fmla="*/ 1676400 h 1676400"/>
              <a:gd name="connsiteX3" fmla="*/ 800100 w 800100"/>
              <a:gd name="connsiteY3" fmla="*/ 1676400 h 1676400"/>
              <a:gd name="connsiteX4" fmla="*/ 317500 w 800100"/>
              <a:gd name="connsiteY4" fmla="*/ 0 h 167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0100" h="1676400">
                <a:moveTo>
                  <a:pt x="317500" y="0"/>
                </a:moveTo>
                <a:lnTo>
                  <a:pt x="0" y="419100"/>
                </a:lnTo>
                <a:lnTo>
                  <a:pt x="0" y="1676400"/>
                </a:lnTo>
                <a:lnTo>
                  <a:pt x="800100" y="1676400"/>
                </a:lnTo>
                <a:lnTo>
                  <a:pt x="317500" y="0"/>
                </a:lnTo>
                <a:close/>
              </a:path>
            </a:pathLst>
          </a:custGeom>
          <a:solidFill>
            <a:srgbClr val="E36C6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等腰三角形 9"/>
          <p:cNvSpPr/>
          <p:nvPr/>
        </p:nvSpPr>
        <p:spPr>
          <a:xfrm>
            <a:off x="0" y="4838700"/>
            <a:ext cx="1724025" cy="1487488"/>
          </a:xfrm>
          <a:prstGeom prst="triangle">
            <a:avLst/>
          </a:prstGeom>
          <a:solidFill>
            <a:srgbClr val="675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等腰三角形 10"/>
          <p:cNvSpPr/>
          <p:nvPr/>
        </p:nvSpPr>
        <p:spPr>
          <a:xfrm flipV="1">
            <a:off x="996950" y="1765300"/>
            <a:ext cx="1517650" cy="1308100"/>
          </a:xfrm>
          <a:prstGeom prst="triangle">
            <a:avLst/>
          </a:prstGeom>
          <a:solidFill>
            <a:srgbClr val="1665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任意多边形 11"/>
          <p:cNvSpPr/>
          <p:nvPr/>
        </p:nvSpPr>
        <p:spPr>
          <a:xfrm>
            <a:off x="0" y="439738"/>
            <a:ext cx="2754313" cy="3300413"/>
          </a:xfrm>
          <a:custGeom>
            <a:avLst/>
            <a:gdLst>
              <a:gd name="connsiteX0" fmla="*/ 0 w 2754101"/>
              <a:gd name="connsiteY0" fmla="*/ 0 h 3300541"/>
              <a:gd name="connsiteX1" fmla="*/ 2754101 w 2754101"/>
              <a:gd name="connsiteY1" fmla="*/ 0 h 3300541"/>
              <a:gd name="connsiteX2" fmla="*/ 839788 w 2754101"/>
              <a:gd name="connsiteY2" fmla="*/ 3300541 h 3300541"/>
              <a:gd name="connsiteX3" fmla="*/ 0 w 2754101"/>
              <a:gd name="connsiteY3" fmla="*/ 1852631 h 3300541"/>
              <a:gd name="connsiteX4" fmla="*/ 0 w 2754101"/>
              <a:gd name="connsiteY4" fmla="*/ 0 h 3300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54101" h="3300541">
                <a:moveTo>
                  <a:pt x="0" y="0"/>
                </a:moveTo>
                <a:lnTo>
                  <a:pt x="2754101" y="0"/>
                </a:lnTo>
                <a:lnTo>
                  <a:pt x="839788" y="3300541"/>
                </a:lnTo>
                <a:lnTo>
                  <a:pt x="0" y="1852631"/>
                </a:lnTo>
                <a:lnTo>
                  <a:pt x="0" y="0"/>
                </a:lnTo>
                <a:close/>
              </a:path>
            </a:pathLst>
          </a:custGeom>
          <a:solidFill>
            <a:srgbClr val="16654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438314" y="2261762"/>
            <a:ext cx="7913899" cy="2387600"/>
          </a:xfrm>
        </p:spPr>
        <p:txBody>
          <a:bodyPr anchor="b"/>
          <a:lstStyle>
            <a:lvl1pPr algn="l">
              <a:defRPr sz="6000" b="1" spc="300" baseline="0">
                <a:solidFill>
                  <a:schemeClr val="bg1"/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3438314" y="4741437"/>
            <a:ext cx="7913899" cy="1655762"/>
          </a:xfrm>
        </p:spPr>
        <p:txBody>
          <a:bodyPr/>
          <a:lstStyle>
            <a:lvl1pPr marL="0" indent="0" algn="l">
              <a:buNone/>
              <a:defRPr sz="2400" b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auto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5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8D2A4B-6B55-4738-B7E3-8F0F6C09A1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title">
    <p:bg>
      <p:bgPr>
        <a:solidFill>
          <a:srgbClr val="272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任意多边形 6"/>
          <p:cNvSpPr/>
          <p:nvPr/>
        </p:nvSpPr>
        <p:spPr>
          <a:xfrm>
            <a:off x="0" y="3636963"/>
            <a:ext cx="1166813" cy="3221038"/>
          </a:xfrm>
          <a:custGeom>
            <a:avLst/>
            <a:gdLst>
              <a:gd name="connsiteX0" fmla="*/ 317500 w 800100"/>
              <a:gd name="connsiteY0" fmla="*/ 0 h 1676400"/>
              <a:gd name="connsiteX1" fmla="*/ 0 w 800100"/>
              <a:gd name="connsiteY1" fmla="*/ 419100 h 1676400"/>
              <a:gd name="connsiteX2" fmla="*/ 0 w 800100"/>
              <a:gd name="connsiteY2" fmla="*/ 1676400 h 1676400"/>
              <a:gd name="connsiteX3" fmla="*/ 800100 w 800100"/>
              <a:gd name="connsiteY3" fmla="*/ 1676400 h 1676400"/>
              <a:gd name="connsiteX4" fmla="*/ 317500 w 800100"/>
              <a:gd name="connsiteY4" fmla="*/ 0 h 167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0100" h="1676400">
                <a:moveTo>
                  <a:pt x="317500" y="0"/>
                </a:moveTo>
                <a:lnTo>
                  <a:pt x="0" y="419100"/>
                </a:lnTo>
                <a:lnTo>
                  <a:pt x="0" y="1676400"/>
                </a:lnTo>
                <a:lnTo>
                  <a:pt x="800100" y="1676400"/>
                </a:lnTo>
                <a:lnTo>
                  <a:pt x="317500" y="0"/>
                </a:lnTo>
                <a:close/>
              </a:path>
            </a:pathLst>
          </a:custGeom>
          <a:solidFill>
            <a:srgbClr val="E36C64">
              <a:alpha val="3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任意多边形 7"/>
          <p:cNvSpPr/>
          <p:nvPr/>
        </p:nvSpPr>
        <p:spPr>
          <a:xfrm>
            <a:off x="0" y="3527425"/>
            <a:ext cx="1931988" cy="3330575"/>
          </a:xfrm>
          <a:custGeom>
            <a:avLst/>
            <a:gdLst>
              <a:gd name="connsiteX0" fmla="*/ 0 w 1932106"/>
              <a:gd name="connsiteY0" fmla="*/ 0 h 3331217"/>
              <a:gd name="connsiteX1" fmla="*/ 1932106 w 1932106"/>
              <a:gd name="connsiteY1" fmla="*/ 3331217 h 3331217"/>
              <a:gd name="connsiteX2" fmla="*/ 0 w 1932106"/>
              <a:gd name="connsiteY2" fmla="*/ 3331217 h 3331217"/>
              <a:gd name="connsiteX3" fmla="*/ 0 w 1932106"/>
              <a:gd name="connsiteY3" fmla="*/ 0 h 3331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32106" h="3331217">
                <a:moveTo>
                  <a:pt x="0" y="0"/>
                </a:moveTo>
                <a:lnTo>
                  <a:pt x="1932106" y="3331217"/>
                </a:lnTo>
                <a:lnTo>
                  <a:pt x="0" y="3331217"/>
                </a:lnTo>
                <a:lnTo>
                  <a:pt x="0" y="0"/>
                </a:lnTo>
                <a:close/>
              </a:path>
            </a:pathLst>
          </a:custGeom>
          <a:solidFill>
            <a:srgbClr val="E086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1709738"/>
            <a:ext cx="10280650" cy="2852737"/>
          </a:xfrm>
        </p:spPr>
        <p:txBody>
          <a:bodyPr anchor="b"/>
          <a:lstStyle>
            <a:lvl1pPr>
              <a:defRPr sz="6000" b="1">
                <a:solidFill>
                  <a:schemeClr val="bg1"/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6800" y="4589463"/>
            <a:ext cx="1028065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auto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8D2A4B-6B55-4738-B7E3-8F0F6C09A1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2728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组合 6"/>
          <p:cNvGrpSpPr/>
          <p:nvPr userDrawn="1"/>
        </p:nvGrpSpPr>
        <p:grpSpPr>
          <a:xfrm>
            <a:off x="0" y="-17462"/>
            <a:ext cx="1162050" cy="1065212"/>
            <a:chOff x="0" y="-17037"/>
            <a:chExt cx="5095525" cy="4666400"/>
          </a:xfrm>
        </p:grpSpPr>
        <p:sp>
          <p:nvSpPr>
            <p:cNvPr id="8" name="任意多边形 7"/>
            <p:cNvSpPr/>
            <p:nvPr/>
          </p:nvSpPr>
          <p:spPr>
            <a:xfrm>
              <a:off x="0" y="-17037"/>
              <a:ext cx="5095525" cy="4666400"/>
            </a:xfrm>
            <a:custGeom>
              <a:avLst/>
              <a:gdLst>
                <a:gd name="connsiteX0" fmla="*/ 0 w 5095525"/>
                <a:gd name="connsiteY0" fmla="*/ 0 h 4666400"/>
                <a:gd name="connsiteX1" fmla="*/ 5095525 w 5095525"/>
                <a:gd name="connsiteY1" fmla="*/ 0 h 4666400"/>
                <a:gd name="connsiteX2" fmla="*/ 2389013 w 5095525"/>
                <a:gd name="connsiteY2" fmla="*/ 4666400 h 4666400"/>
                <a:gd name="connsiteX3" fmla="*/ 0 w 5095525"/>
                <a:gd name="connsiteY3" fmla="*/ 547414 h 4666400"/>
                <a:gd name="connsiteX4" fmla="*/ 0 w 5095525"/>
                <a:gd name="connsiteY4" fmla="*/ 0 h 4666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095525" h="4666400">
                  <a:moveTo>
                    <a:pt x="0" y="0"/>
                  </a:moveTo>
                  <a:lnTo>
                    <a:pt x="5095525" y="0"/>
                  </a:lnTo>
                  <a:lnTo>
                    <a:pt x="2389013" y="4666400"/>
                  </a:lnTo>
                  <a:lnTo>
                    <a:pt x="0" y="5474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C7C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等腰三角形 8"/>
            <p:cNvSpPr/>
            <p:nvPr/>
          </p:nvSpPr>
          <p:spPr>
            <a:xfrm flipV="1">
              <a:off x="996552" y="1764627"/>
              <a:ext cx="1518490" cy="1309043"/>
            </a:xfrm>
            <a:prstGeom prst="triangle">
              <a:avLst/>
            </a:prstGeom>
            <a:solidFill>
              <a:srgbClr val="166548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任意多边形 9"/>
            <p:cNvSpPr/>
            <p:nvPr/>
          </p:nvSpPr>
          <p:spPr>
            <a:xfrm>
              <a:off x="0" y="439770"/>
              <a:ext cx="2754101" cy="3300541"/>
            </a:xfrm>
            <a:custGeom>
              <a:avLst/>
              <a:gdLst>
                <a:gd name="connsiteX0" fmla="*/ 0 w 2754101"/>
                <a:gd name="connsiteY0" fmla="*/ 0 h 3300541"/>
                <a:gd name="connsiteX1" fmla="*/ 2754101 w 2754101"/>
                <a:gd name="connsiteY1" fmla="*/ 0 h 3300541"/>
                <a:gd name="connsiteX2" fmla="*/ 839788 w 2754101"/>
                <a:gd name="connsiteY2" fmla="*/ 3300541 h 3300541"/>
                <a:gd name="connsiteX3" fmla="*/ 0 w 2754101"/>
                <a:gd name="connsiteY3" fmla="*/ 1852631 h 3300541"/>
                <a:gd name="connsiteX4" fmla="*/ 0 w 2754101"/>
                <a:gd name="connsiteY4" fmla="*/ 0 h 33005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54101" h="3300541">
                  <a:moveTo>
                    <a:pt x="0" y="0"/>
                  </a:moveTo>
                  <a:lnTo>
                    <a:pt x="2754101" y="0"/>
                  </a:lnTo>
                  <a:lnTo>
                    <a:pt x="839788" y="3300541"/>
                  </a:lnTo>
                  <a:lnTo>
                    <a:pt x="0" y="18526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66548">
                <a:alpha val="8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lt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fontAlgn="auto"/>
            <a:r>
              <a:rPr lang="zh-CN" altLang="en-US" strike="noStrike" noProof="1" dirty="0" smtClean="0"/>
              <a:t>单击此处编辑母版标题样式</a:t>
            </a:r>
            <a:endParaRPr lang="zh-CN" altLang="en-US" strike="noStrike" noProof="1" dirty="0"/>
          </a:p>
        </p:txBody>
      </p:sp>
      <p:sp>
        <p:nvSpPr>
          <p:cNvPr id="11" name="日期占位符 2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页脚占位符 3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8D2A4B-6B55-4738-B7E3-8F0F6C09A1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8D2A4B-6B55-4738-B7E3-8F0F6C09A1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Arial" panose="020B0604020202020204" pitchFamily="34" charset="0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Arial" panose="020B0604020202020204" pitchFamily="34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2A8D2A4B-6B55-4738-B7E3-8F0F6C09A17B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Arial" panose="020B0604020202020204" pitchFamily="34" charset="0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Arial" panose="020B060402020202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Arial" panose="020B060402020202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jpeg"/><Relationship Id="rId3" Type="http://schemas.openxmlformats.org/officeDocument/2006/relationships/image" Target="../media/image18.png"/><Relationship Id="rId2" Type="http://schemas.openxmlformats.org/officeDocument/2006/relationships/image" Target="../media/image17.jpeg"/><Relationship Id="rId1" Type="http://schemas.openxmlformats.org/officeDocument/2006/relationships/image" Target="../media/image16.jpe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2.png"/><Relationship Id="rId1" Type="http://schemas.openxmlformats.org/officeDocument/2006/relationships/oleObject" Target="../embeddings/oleObject1.bin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438525" y="2262188"/>
            <a:ext cx="7913688" cy="2387600"/>
          </a:xfr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91440" tIns="45720" rIns="91440" bIns="45720" rtlCol="0" anchor="b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5400" b="1" i="0" u="none" strike="noStrike" kern="1200" cap="none" spc="30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“Customer Churn Analysis in Telecom Industry”</a:t>
            </a:r>
            <a:endParaRPr kumimoji="0" lang="en-US" altLang="en-US" sz="5400" b="1" i="0" u="none" strike="noStrike" kern="1200" cap="none" spc="30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7170" name="副标题 2"/>
          <p:cNvSpPr>
            <a:spLocks noGrp="1"/>
          </p:cNvSpPr>
          <p:nvPr>
            <p:ph type="subTitle" idx="1"/>
          </p:nvPr>
        </p:nvSpPr>
        <p:spPr>
          <a:xfrm>
            <a:off x="3438525" y="4742180"/>
            <a:ext cx="7914005" cy="650875"/>
          </a:xfrm>
        </p:spPr>
        <p:txBody>
          <a:bodyPr wrap="square" lIns="91440" tIns="45720" rIns="91440" bIns="45720" anchor="t" anchorCtr="0"/>
          <a:p>
            <a:pPr defTabSz="914400">
              <a:buClrTx/>
              <a:buSzTx/>
            </a:pPr>
            <a:r>
              <a:rPr lang="en-US" altLang="en-US" sz="20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rial" panose="020B0604020202020204" pitchFamily="34" charset="0"/>
                <a:cs typeface="+mn-cs"/>
              </a:rPr>
              <a:t>“Analyzing customer data to identify why customers leave and providing actionable insights to reduce churn and improve retention.”</a:t>
            </a:r>
            <a:endParaRPr lang="en-US" altLang="en-US" sz="20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Arial" panose="020B0604020202020204" pitchFamily="34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标题 1"/>
          <p:cNvSpPr>
            <a:spLocks noGrp="1"/>
          </p:cNvSpPr>
          <p:nvPr>
            <p:ph type="title"/>
          </p:nvPr>
        </p:nvSpPr>
        <p:spPr>
          <a:xfrm>
            <a:off x="721995" y="330835"/>
            <a:ext cx="10280650" cy="773430"/>
          </a:xfrm>
        </p:spPr>
        <p:txBody>
          <a:bodyPr wrap="square" lIns="91440" tIns="45720" rIns="91440" bIns="45720" anchor="b" anchorCtr="0"/>
          <a:p>
            <a:pPr defTabSz="914400">
              <a:buNone/>
            </a:pPr>
            <a:r>
              <a:rPr lang="en-US" altLang="en-US" sz="2400" kern="1200" dirty="0">
                <a:latin typeface="+mj-lt"/>
                <a:ea typeface="Arial" panose="020B0604020202020204" pitchFamily="34" charset="0"/>
                <a:cs typeface="+mj-cs"/>
              </a:rPr>
              <a:t>Title:</a:t>
            </a:r>
            <a:br>
              <a:rPr lang="en-US" altLang="en-US" sz="2400" kern="1200" dirty="0">
                <a:latin typeface="+mj-lt"/>
                <a:ea typeface="Arial" panose="020B0604020202020204" pitchFamily="34" charset="0"/>
                <a:cs typeface="+mj-cs"/>
              </a:rPr>
            </a:br>
            <a:r>
              <a:rPr lang="en-US" altLang="en-US" sz="2400" kern="1200" dirty="0">
                <a:latin typeface="+mj-lt"/>
                <a:ea typeface="Arial" panose="020B0604020202020204" pitchFamily="34" charset="0"/>
                <a:cs typeface="+mj-cs"/>
              </a:rPr>
              <a:t>Customer Churn Analysis Using SQL, Python, and Power BI</a:t>
            </a:r>
            <a:r>
              <a:rPr lang="zh-CN" altLang="en-US" sz="2400" kern="1200" dirty="0">
                <a:latin typeface="+mj-lt"/>
                <a:ea typeface="Arial" panose="020B0604020202020204" pitchFamily="34" charset="0"/>
                <a:cs typeface="+mj-cs"/>
              </a:rPr>
              <a:t>r title</a:t>
            </a:r>
            <a:endParaRPr lang="zh-CN" altLang="en-US" sz="2400" kern="1200" dirty="0">
              <a:latin typeface="+mj-lt"/>
              <a:ea typeface="Arial" panose="020B0604020202020204" pitchFamily="34" charset="0"/>
              <a:cs typeface="+mj-cs"/>
            </a:endParaRPr>
          </a:p>
        </p:txBody>
      </p:sp>
      <p:sp>
        <p:nvSpPr>
          <p:cNvPr id="8194" name="文本占位符 2"/>
          <p:cNvSpPr>
            <a:spLocks noGrp="1"/>
          </p:cNvSpPr>
          <p:nvPr>
            <p:ph type="body" idx="1"/>
          </p:nvPr>
        </p:nvSpPr>
        <p:spPr>
          <a:xfrm>
            <a:off x="788670" y="1104265"/>
            <a:ext cx="5029200" cy="3281045"/>
          </a:xfrm>
        </p:spPr>
        <p:txBody>
          <a:bodyPr wrap="square" lIns="91440" tIns="45720" rIns="91440" bIns="45720" anchor="t" anchorCtr="0"/>
          <a:p>
            <a:pPr defTabSz="914400"/>
            <a:r>
              <a:rPr lang="en-US" altLang="en-US" sz="1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rial" panose="020B0604020202020204" pitchFamily="34" charset="0"/>
                <a:cs typeface="+mn-cs"/>
              </a:rPr>
              <a:t>Subtitle:</a:t>
            </a:r>
            <a:endParaRPr lang="en-US" altLang="en-US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Arial" panose="020B0604020202020204" pitchFamily="34" charset="0"/>
              <a:cs typeface="+mn-cs"/>
            </a:endParaRPr>
          </a:p>
          <a:p>
            <a:pPr defTabSz="914400"/>
            <a:r>
              <a:rPr lang="zh-CN" altLang="en-US" sz="1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rial" panose="020B0604020202020204" pitchFamily="34" charset="0"/>
                <a:cs typeface="+mn-cs"/>
              </a:rPr>
              <a:t>👉 </a:t>
            </a:r>
            <a:r>
              <a:rPr lang="en-IN" altLang="zh-CN" sz="1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rial" panose="020B0604020202020204" pitchFamily="34" charset="0"/>
                <a:cs typeface="+mn-cs"/>
              </a:rPr>
              <a:t> </a:t>
            </a:r>
            <a:r>
              <a:rPr lang="en-US" altLang="en-US" sz="1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rial" panose="020B0604020202020204" pitchFamily="34" charset="0"/>
                <a:cs typeface="+mn-cs"/>
              </a:rPr>
              <a:t>Understanding Customer Behavior &amp; Reducing Churn in Telecom Industry</a:t>
            </a:r>
            <a:endParaRPr lang="en-US" altLang="en-US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Arial" panose="020B0604020202020204" pitchFamily="34" charset="0"/>
              <a:cs typeface="+mn-cs"/>
            </a:endParaRPr>
          </a:p>
          <a:p>
            <a:pPr defTabSz="914400"/>
            <a:r>
              <a:rPr lang="en-US" altLang="en-US" sz="1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rial" panose="020B0604020202020204" pitchFamily="34" charset="0"/>
                <a:cs typeface="+mn-cs"/>
              </a:rPr>
              <a:t>Presented By:</a:t>
            </a:r>
            <a:endParaRPr lang="en-US" altLang="en-US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Arial" panose="020B0604020202020204" pitchFamily="34" charset="0"/>
              <a:cs typeface="+mn-cs"/>
            </a:endParaRPr>
          </a:p>
          <a:p>
            <a:pPr defTabSz="914400"/>
            <a:r>
              <a:rPr lang="zh-CN" altLang="en-US" sz="1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rial" panose="020B0604020202020204" pitchFamily="34" charset="0"/>
                <a:cs typeface="+mn-cs"/>
              </a:rPr>
              <a:t>👉 </a:t>
            </a:r>
            <a:r>
              <a:rPr lang="en-IN" altLang="zh-CN" sz="1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rial" panose="020B0604020202020204" pitchFamily="34" charset="0"/>
                <a:cs typeface="+mn-cs"/>
              </a:rPr>
              <a:t> </a:t>
            </a:r>
            <a:r>
              <a:rPr lang="en-US" altLang="en-US" sz="1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rial" panose="020B0604020202020204" pitchFamily="34" charset="0"/>
                <a:cs typeface="+mn-cs"/>
              </a:rPr>
              <a:t>Preksha</a:t>
            </a:r>
            <a:endParaRPr lang="en-US" altLang="en-US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Arial" panose="020B0604020202020204" pitchFamily="34" charset="0"/>
              <a:cs typeface="+mn-cs"/>
            </a:endParaRPr>
          </a:p>
          <a:p>
            <a:pPr defTabSz="914400"/>
            <a:r>
              <a:rPr lang="en-US" altLang="en-US" sz="1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rial" panose="020B0604020202020204" pitchFamily="34" charset="0"/>
                <a:cs typeface="+mn-cs"/>
              </a:rPr>
              <a:t>Tools Used:</a:t>
            </a:r>
            <a:endParaRPr lang="en-US" altLang="en-US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Arial" panose="020B0604020202020204" pitchFamily="34" charset="0"/>
              <a:cs typeface="+mn-cs"/>
            </a:endParaRPr>
          </a:p>
          <a:p>
            <a:pPr defTabSz="914400"/>
            <a:r>
              <a:rPr lang="zh-CN" altLang="en-US" sz="1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rial" panose="020B0604020202020204" pitchFamily="34" charset="0"/>
                <a:cs typeface="+mn-cs"/>
              </a:rPr>
              <a:t>👉 </a:t>
            </a:r>
            <a:r>
              <a:rPr lang="en-IN" altLang="zh-CN" sz="1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rial" panose="020B0604020202020204" pitchFamily="34" charset="0"/>
                <a:cs typeface="+mn-cs"/>
              </a:rPr>
              <a:t> </a:t>
            </a:r>
            <a:r>
              <a:rPr lang="en-US" altLang="en-US" sz="1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rial" panose="020B0604020202020204" pitchFamily="34" charset="0"/>
                <a:cs typeface="+mn-cs"/>
              </a:rPr>
              <a:t>SQL | Python | Power BI</a:t>
            </a:r>
            <a:endParaRPr lang="en-US" altLang="en-US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Arial" panose="020B0604020202020204" pitchFamily="34" charset="0"/>
              <a:cs typeface="+mn-cs"/>
            </a:endParaRPr>
          </a:p>
          <a:p>
            <a:pPr defTabSz="914400"/>
            <a:r>
              <a:rPr lang="en-US" altLang="en-US" sz="1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rial" panose="020B0604020202020204" pitchFamily="34" charset="0"/>
                <a:cs typeface="+mn-cs"/>
              </a:rPr>
              <a:t>Date:</a:t>
            </a:r>
            <a:endParaRPr lang="en-US" altLang="en-US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Arial" panose="020B0604020202020204" pitchFamily="34" charset="0"/>
              <a:cs typeface="+mn-cs"/>
            </a:endParaRPr>
          </a:p>
          <a:p>
            <a:pPr defTabSz="914400"/>
            <a:r>
              <a:rPr lang="zh-CN" alt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👉 </a:t>
            </a:r>
            <a:r>
              <a:rPr lang="en-IN" altLang="zh-CN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 (</a:t>
            </a:r>
            <a:r>
              <a:rPr lang="en-IN" altLang="en-US" sz="1800" b="1" kern="1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Arial" panose="020B0604020202020204" pitchFamily="34" charset="0"/>
                <a:cs typeface="+mn-cs"/>
              </a:rPr>
              <a:t>10-APRIL-2026)</a:t>
            </a:r>
            <a:endParaRPr lang="en-IN" altLang="en-US" sz="18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Arial" panose="020B0604020202020204" pitchFamily="34" charset="0"/>
              <a:cs typeface="+mn-cs"/>
            </a:endParaRPr>
          </a:p>
        </p:txBody>
      </p:sp>
      <p:pic>
        <p:nvPicPr>
          <p:cNvPr id="2" name="Picture 1" descr="Customer_Churn_Prediction_Models_in_Machine_Learni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58305" y="3201035"/>
            <a:ext cx="4577715" cy="29622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ln>
            <a:solidFill>
              <a:schemeClr val="bg1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spc="300" noProof="0" dirty="0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“Customer Churn Analysis in Telecom Industry”</a:t>
            </a:r>
            <a:endParaRPr kumimoji="0" lang="en-US" altLang="en-US" sz="3200" b="1" i="0" u="none" strike="noStrike" kern="1200" cap="none" spc="300" normalizeH="0" baseline="0" noProof="0" dirty="0" smtClean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3" name="圆角矩形 2"/>
          <p:cNvSpPr>
            <a:spLocks noChangeAspect="1"/>
          </p:cNvSpPr>
          <p:nvPr/>
        </p:nvSpPr>
        <p:spPr>
          <a:xfrm>
            <a:off x="8391525" y="1924050"/>
            <a:ext cx="539750" cy="541338"/>
          </a:xfrm>
          <a:prstGeom prst="roundRect">
            <a:avLst/>
          </a:prstGeom>
          <a:solidFill>
            <a:srgbClr val="E086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圆角矩形 4"/>
          <p:cNvSpPr>
            <a:spLocks noChangeAspect="1"/>
          </p:cNvSpPr>
          <p:nvPr/>
        </p:nvSpPr>
        <p:spPr>
          <a:xfrm>
            <a:off x="8318500" y="4229100"/>
            <a:ext cx="541338" cy="539750"/>
          </a:xfrm>
          <a:prstGeom prst="roundRect">
            <a:avLst/>
          </a:prstGeom>
          <a:solidFill>
            <a:srgbClr val="675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220" name="矩形 5"/>
          <p:cNvSpPr/>
          <p:nvPr/>
        </p:nvSpPr>
        <p:spPr>
          <a:xfrm>
            <a:off x="8270875" y="2613025"/>
            <a:ext cx="3100705" cy="14020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 algn="just"/>
            <a:r>
              <a:rPr lang="en-US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“The dataset contains 7,043 telecom customers with 21 features covering demographics, services, account details, and billing information, used to analyze customer churn behavior.”</a:t>
            </a:r>
            <a:endParaRPr lang="en-US" altLang="en-US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9221" name="矩形 6"/>
          <p:cNvSpPr/>
          <p:nvPr/>
        </p:nvSpPr>
        <p:spPr>
          <a:xfrm>
            <a:off x="8251825" y="4919980"/>
            <a:ext cx="3100705" cy="84010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 algn="just"/>
            <a:r>
              <a:rPr lang="en-US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Source: Telecom Customer Data</a:t>
            </a:r>
            <a:endParaRPr lang="en-US" altLang="en-US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algn="just"/>
            <a:r>
              <a:rPr lang="en-US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Includes categorical &amp; numerical data</a:t>
            </a:r>
            <a:endParaRPr lang="en-US" altLang="en-US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algn="just"/>
            <a:r>
              <a:rPr lang="en-US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Target variable: Churn</a:t>
            </a:r>
            <a:endParaRPr lang="en-US" altLang="en-US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39788" y="5475288"/>
            <a:ext cx="7148513" cy="725488"/>
          </a:xfrm>
          <a:prstGeom prst="rect">
            <a:avLst/>
          </a:prstGeom>
          <a:solidFill>
            <a:srgbClr val="1C7C5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223" name="矩形 9"/>
          <p:cNvSpPr/>
          <p:nvPr/>
        </p:nvSpPr>
        <p:spPr>
          <a:xfrm>
            <a:off x="839788" y="5576888"/>
            <a:ext cx="7043737" cy="73723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just"/>
            <a:r>
              <a:rPr lang="en-US" altLang="en-US" sz="1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This dataset provides comprehensive customer information to uncover patterns and key drivers behind customer churn in the telecom business.</a:t>
            </a:r>
            <a:endParaRPr lang="en-US" altLang="en-US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algn="just"/>
            <a:endParaRPr lang="en-US" altLang="en-US" sz="1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9224" name="矩形 11"/>
          <p:cNvSpPr/>
          <p:nvPr/>
        </p:nvSpPr>
        <p:spPr>
          <a:xfrm>
            <a:off x="9140825" y="2092325"/>
            <a:ext cx="1894840" cy="3683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en-US" altLang="en-US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Dataset Overview</a:t>
            </a:r>
            <a:endParaRPr lang="zh-CN" alt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9225" name="矩形 12"/>
          <p:cNvSpPr/>
          <p:nvPr/>
        </p:nvSpPr>
        <p:spPr>
          <a:xfrm>
            <a:off x="9264650" y="4397375"/>
            <a:ext cx="836295" cy="3987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en-I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P</a:t>
            </a:r>
            <a:r>
              <a:rPr lang="en-US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oints</a:t>
            </a:r>
            <a:endParaRPr lang="en-US" alt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grpSp>
        <p:nvGrpSpPr>
          <p:cNvPr id="9226" name="组合 16"/>
          <p:cNvGrpSpPr/>
          <p:nvPr/>
        </p:nvGrpSpPr>
        <p:grpSpPr>
          <a:xfrm>
            <a:off x="8529638" y="2017713"/>
            <a:ext cx="276225" cy="366712"/>
            <a:chOff x="2443163" y="2125663"/>
            <a:chExt cx="315913" cy="511175"/>
          </a:xfrm>
        </p:grpSpPr>
        <p:sp>
          <p:nvSpPr>
            <p:cNvPr id="9227" name="Freeform 78"/>
            <p:cNvSpPr/>
            <p:nvPr/>
          </p:nvSpPr>
          <p:spPr>
            <a:xfrm>
              <a:off x="2443163" y="2125663"/>
              <a:ext cx="315913" cy="396875"/>
            </a:xfrm>
            <a:custGeom>
              <a:avLst/>
              <a:gdLst/>
              <a:ahLst/>
              <a:cxnLst>
                <a:cxn ang="0">
                  <a:pos x="157084" y="0"/>
                </a:cxn>
                <a:cxn ang="0">
                  <a:pos x="873" y="157878"/>
                </a:cxn>
                <a:cxn ang="0">
                  <a:pos x="63706" y="281738"/>
                </a:cxn>
                <a:cxn ang="0">
                  <a:pos x="95123" y="375941"/>
                </a:cxn>
                <a:cxn ang="0">
                  <a:pos x="157957" y="396875"/>
                </a:cxn>
                <a:cxn ang="0">
                  <a:pos x="220790" y="375941"/>
                </a:cxn>
                <a:cxn ang="0">
                  <a:pos x="220790" y="375941"/>
                </a:cxn>
                <a:cxn ang="0">
                  <a:pos x="252207" y="281738"/>
                </a:cxn>
                <a:cxn ang="0">
                  <a:pos x="315040" y="157878"/>
                </a:cxn>
                <a:cxn ang="0">
                  <a:pos x="159702" y="0"/>
                </a:cxn>
                <a:cxn ang="0">
                  <a:pos x="157084" y="0"/>
                </a:cxn>
              </a:cxnLst>
              <a:pathLst>
                <a:path w="362" h="455">
                  <a:moveTo>
                    <a:pt x="180" y="0"/>
                  </a:moveTo>
                  <a:cubicBezTo>
                    <a:pt x="80" y="0"/>
                    <a:pt x="0" y="81"/>
                    <a:pt x="1" y="181"/>
                  </a:cubicBezTo>
                  <a:cubicBezTo>
                    <a:pt x="1" y="239"/>
                    <a:pt x="44" y="290"/>
                    <a:pt x="73" y="323"/>
                  </a:cubicBezTo>
                  <a:cubicBezTo>
                    <a:pt x="103" y="356"/>
                    <a:pt x="109" y="431"/>
                    <a:pt x="109" y="431"/>
                  </a:cubicBezTo>
                  <a:cubicBezTo>
                    <a:pt x="109" y="431"/>
                    <a:pt x="142" y="455"/>
                    <a:pt x="181" y="455"/>
                  </a:cubicBezTo>
                  <a:cubicBezTo>
                    <a:pt x="221" y="455"/>
                    <a:pt x="253" y="431"/>
                    <a:pt x="253" y="431"/>
                  </a:cubicBezTo>
                  <a:cubicBezTo>
                    <a:pt x="253" y="431"/>
                    <a:pt x="253" y="431"/>
                    <a:pt x="253" y="431"/>
                  </a:cubicBezTo>
                  <a:cubicBezTo>
                    <a:pt x="253" y="431"/>
                    <a:pt x="260" y="356"/>
                    <a:pt x="289" y="323"/>
                  </a:cubicBezTo>
                  <a:cubicBezTo>
                    <a:pt x="318" y="290"/>
                    <a:pt x="361" y="239"/>
                    <a:pt x="361" y="181"/>
                  </a:cubicBezTo>
                  <a:cubicBezTo>
                    <a:pt x="362" y="81"/>
                    <a:pt x="282" y="0"/>
                    <a:pt x="183" y="0"/>
                  </a:cubicBezTo>
                  <a:lnTo>
                    <a:pt x="180" y="0"/>
                  </a:lnTo>
                  <a:close/>
                </a:path>
              </a:pathLst>
            </a:custGeom>
            <a:noFill/>
            <a:ln w="34925" cap="flat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en-US"/>
            </a:p>
          </p:txBody>
        </p:sp>
        <p:sp>
          <p:nvSpPr>
            <p:cNvPr id="9228" name="Freeform 79"/>
            <p:cNvSpPr/>
            <p:nvPr/>
          </p:nvSpPr>
          <p:spPr>
            <a:xfrm>
              <a:off x="2530475" y="2508250"/>
              <a:ext cx="69850" cy="55563"/>
            </a:xfrm>
            <a:custGeom>
              <a:avLst/>
              <a:gdLst/>
              <a:ahLst/>
              <a:cxnLst>
                <a:cxn ang="0">
                  <a:pos x="11210" y="0"/>
                </a:cxn>
                <a:cxn ang="0">
                  <a:pos x="4312" y="24309"/>
                </a:cxn>
                <a:cxn ang="0">
                  <a:pos x="69850" y="55563"/>
                </a:cxn>
              </a:cxnLst>
              <a:pathLst>
                <a:path w="81" h="64">
                  <a:moveTo>
                    <a:pt x="13" y="0"/>
                  </a:moveTo>
                  <a:cubicBezTo>
                    <a:pt x="8" y="14"/>
                    <a:pt x="0" y="16"/>
                    <a:pt x="5" y="28"/>
                  </a:cubicBezTo>
                  <a:cubicBezTo>
                    <a:pt x="11" y="40"/>
                    <a:pt x="42" y="64"/>
                    <a:pt x="81" y="64"/>
                  </a:cubicBezTo>
                </a:path>
              </a:pathLst>
            </a:custGeom>
            <a:noFill/>
            <a:ln w="34925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en-US"/>
            </a:p>
          </p:txBody>
        </p:sp>
        <p:sp>
          <p:nvSpPr>
            <p:cNvPr id="9229" name="Freeform 80"/>
            <p:cNvSpPr/>
            <p:nvPr/>
          </p:nvSpPr>
          <p:spPr>
            <a:xfrm>
              <a:off x="2600325" y="2508250"/>
              <a:ext cx="71438" cy="55563"/>
            </a:xfrm>
            <a:custGeom>
              <a:avLst/>
              <a:gdLst/>
              <a:ahLst/>
              <a:cxnLst>
                <a:cxn ang="0">
                  <a:pos x="59241" y="0"/>
                </a:cxn>
                <a:cxn ang="0">
                  <a:pos x="66211" y="24309"/>
                </a:cxn>
                <a:cxn ang="0">
                  <a:pos x="0" y="55563"/>
                </a:cxn>
              </a:cxnLst>
              <a:pathLst>
                <a:path w="82" h="64">
                  <a:moveTo>
                    <a:pt x="68" y="0"/>
                  </a:moveTo>
                  <a:cubicBezTo>
                    <a:pt x="74" y="14"/>
                    <a:pt x="82" y="16"/>
                    <a:pt x="76" y="28"/>
                  </a:cubicBezTo>
                  <a:cubicBezTo>
                    <a:pt x="71" y="40"/>
                    <a:pt x="40" y="64"/>
                    <a:pt x="0" y="64"/>
                  </a:cubicBezTo>
                </a:path>
              </a:pathLst>
            </a:custGeom>
            <a:noFill/>
            <a:ln w="34925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en-US"/>
            </a:p>
          </p:txBody>
        </p:sp>
        <p:sp>
          <p:nvSpPr>
            <p:cNvPr id="9230" name="Freeform 81"/>
            <p:cNvSpPr/>
            <p:nvPr/>
          </p:nvSpPr>
          <p:spPr>
            <a:xfrm>
              <a:off x="2530475" y="2551113"/>
              <a:ext cx="69850" cy="55563"/>
            </a:xfrm>
            <a:custGeom>
              <a:avLst/>
              <a:gdLst/>
              <a:ahLst/>
              <a:cxnLst>
                <a:cxn ang="0">
                  <a:pos x="11210" y="0"/>
                </a:cxn>
                <a:cxn ang="0">
                  <a:pos x="4312" y="24309"/>
                </a:cxn>
                <a:cxn ang="0">
                  <a:pos x="69850" y="55563"/>
                </a:cxn>
              </a:cxnLst>
              <a:pathLst>
                <a:path w="81" h="64">
                  <a:moveTo>
                    <a:pt x="13" y="0"/>
                  </a:moveTo>
                  <a:cubicBezTo>
                    <a:pt x="8" y="14"/>
                    <a:pt x="0" y="16"/>
                    <a:pt x="5" y="28"/>
                  </a:cubicBezTo>
                  <a:cubicBezTo>
                    <a:pt x="11" y="40"/>
                    <a:pt x="42" y="64"/>
                    <a:pt x="81" y="64"/>
                  </a:cubicBezTo>
                </a:path>
              </a:pathLst>
            </a:custGeom>
            <a:noFill/>
            <a:ln w="34925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en-US"/>
            </a:p>
          </p:txBody>
        </p:sp>
        <p:sp>
          <p:nvSpPr>
            <p:cNvPr id="9231" name="Freeform 82"/>
            <p:cNvSpPr/>
            <p:nvPr/>
          </p:nvSpPr>
          <p:spPr>
            <a:xfrm>
              <a:off x="2600325" y="2551113"/>
              <a:ext cx="71438" cy="55563"/>
            </a:xfrm>
            <a:custGeom>
              <a:avLst/>
              <a:gdLst/>
              <a:ahLst/>
              <a:cxnLst>
                <a:cxn ang="0">
                  <a:pos x="59241" y="0"/>
                </a:cxn>
                <a:cxn ang="0">
                  <a:pos x="66211" y="24309"/>
                </a:cxn>
                <a:cxn ang="0">
                  <a:pos x="0" y="55563"/>
                </a:cxn>
              </a:cxnLst>
              <a:pathLst>
                <a:path w="82" h="64">
                  <a:moveTo>
                    <a:pt x="68" y="0"/>
                  </a:moveTo>
                  <a:cubicBezTo>
                    <a:pt x="74" y="14"/>
                    <a:pt x="82" y="16"/>
                    <a:pt x="76" y="28"/>
                  </a:cubicBezTo>
                  <a:cubicBezTo>
                    <a:pt x="71" y="40"/>
                    <a:pt x="40" y="64"/>
                    <a:pt x="0" y="64"/>
                  </a:cubicBezTo>
                </a:path>
              </a:pathLst>
            </a:custGeom>
            <a:noFill/>
            <a:ln w="34925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en-US"/>
            </a:p>
          </p:txBody>
        </p:sp>
        <p:sp>
          <p:nvSpPr>
            <p:cNvPr id="9232" name="Freeform 83"/>
            <p:cNvSpPr/>
            <p:nvPr/>
          </p:nvSpPr>
          <p:spPr>
            <a:xfrm>
              <a:off x="2562225" y="2613025"/>
              <a:ext cx="77788" cy="23813"/>
            </a:xfrm>
            <a:custGeom>
              <a:avLst/>
              <a:gdLst/>
              <a:ahLst/>
              <a:cxnLst>
                <a:cxn ang="0">
                  <a:pos x="77788" y="0"/>
                </a:cxn>
                <a:cxn ang="0">
                  <a:pos x="38894" y="23813"/>
                </a:cxn>
                <a:cxn ang="0">
                  <a:pos x="0" y="0"/>
                </a:cxn>
              </a:cxnLst>
              <a:pathLst>
                <a:path w="88" h="27">
                  <a:moveTo>
                    <a:pt x="88" y="0"/>
                  </a:moveTo>
                  <a:cubicBezTo>
                    <a:pt x="88" y="0"/>
                    <a:pt x="69" y="27"/>
                    <a:pt x="44" y="27"/>
                  </a:cubicBezTo>
                  <a:cubicBezTo>
                    <a:pt x="20" y="27"/>
                    <a:pt x="0" y="0"/>
                    <a:pt x="0" y="0"/>
                  </a:cubicBezTo>
                </a:path>
              </a:pathLst>
            </a:custGeom>
            <a:solidFill>
              <a:srgbClr val="FFFFFF"/>
            </a:solidFill>
            <a:ln w="9525">
              <a:noFill/>
            </a:ln>
          </p:spPr>
          <p:txBody>
            <a:bodyPr/>
            <a:p>
              <a:endParaRPr lang="en-US"/>
            </a:p>
          </p:txBody>
        </p:sp>
        <p:sp>
          <p:nvSpPr>
            <p:cNvPr id="9233" name="Freeform 84"/>
            <p:cNvSpPr/>
            <p:nvPr/>
          </p:nvSpPr>
          <p:spPr>
            <a:xfrm>
              <a:off x="2544763" y="2297113"/>
              <a:ext cx="112713" cy="219075"/>
            </a:xfrm>
            <a:custGeom>
              <a:avLst/>
              <a:gdLst/>
              <a:ahLst/>
              <a:cxnLst>
                <a:cxn ang="0">
                  <a:pos x="38100" y="219075"/>
                </a:cxn>
                <a:cxn ang="0">
                  <a:pos x="0" y="15875"/>
                </a:cxn>
                <a:cxn ang="0">
                  <a:pos x="9525" y="0"/>
                </a:cxn>
                <a:cxn ang="0">
                  <a:pos x="25400" y="31750"/>
                </a:cxn>
                <a:cxn ang="0">
                  <a:pos x="39688" y="0"/>
                </a:cxn>
                <a:cxn ang="0">
                  <a:pos x="55563" y="31750"/>
                </a:cxn>
                <a:cxn ang="0">
                  <a:pos x="71438" y="0"/>
                </a:cxn>
                <a:cxn ang="0">
                  <a:pos x="87313" y="31750"/>
                </a:cxn>
                <a:cxn ang="0">
                  <a:pos x="103188" y="0"/>
                </a:cxn>
                <a:cxn ang="0">
                  <a:pos x="112713" y="15875"/>
                </a:cxn>
                <a:cxn ang="0">
                  <a:pos x="73025" y="219075"/>
                </a:cxn>
              </a:cxnLst>
              <a:pathLst>
                <a:path w="71" h="138">
                  <a:moveTo>
                    <a:pt x="24" y="138"/>
                  </a:moveTo>
                  <a:lnTo>
                    <a:pt x="0" y="10"/>
                  </a:lnTo>
                  <a:lnTo>
                    <a:pt x="6" y="0"/>
                  </a:lnTo>
                  <a:lnTo>
                    <a:pt x="16" y="20"/>
                  </a:lnTo>
                  <a:lnTo>
                    <a:pt x="25" y="0"/>
                  </a:lnTo>
                  <a:lnTo>
                    <a:pt x="35" y="20"/>
                  </a:lnTo>
                  <a:lnTo>
                    <a:pt x="45" y="0"/>
                  </a:lnTo>
                  <a:lnTo>
                    <a:pt x="55" y="20"/>
                  </a:lnTo>
                  <a:lnTo>
                    <a:pt x="65" y="0"/>
                  </a:lnTo>
                  <a:lnTo>
                    <a:pt x="71" y="10"/>
                  </a:lnTo>
                  <a:lnTo>
                    <a:pt x="46" y="138"/>
                  </a:lnTo>
                </a:path>
              </a:pathLst>
            </a:custGeom>
            <a:noFill/>
            <a:ln w="11113" cap="rnd" cmpd="sng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en-US"/>
            </a:p>
          </p:txBody>
        </p:sp>
      </p:grpSp>
      <p:sp>
        <p:nvSpPr>
          <p:cNvPr id="9234" name="Freeform 9"/>
          <p:cNvSpPr>
            <a:spLocks noEditPoints="1"/>
          </p:cNvSpPr>
          <p:nvPr/>
        </p:nvSpPr>
        <p:spPr>
          <a:xfrm>
            <a:off x="8420100" y="4330700"/>
            <a:ext cx="338138" cy="338138"/>
          </a:xfrm>
          <a:custGeom>
            <a:avLst/>
            <a:gdLst/>
            <a:ahLst/>
            <a:cxnLst>
              <a:cxn ang="0">
                <a:pos x="321972" y="104931"/>
              </a:cxn>
              <a:cxn ang="0">
                <a:pos x="307285" y="119781"/>
              </a:cxn>
              <a:cxn ang="0">
                <a:pos x="218510" y="31169"/>
              </a:cxn>
              <a:cxn ang="0">
                <a:pos x="233360" y="16319"/>
              </a:cxn>
              <a:cxn ang="0">
                <a:pos x="292435" y="16319"/>
              </a:cxn>
              <a:cxn ang="0">
                <a:pos x="321972" y="45856"/>
              </a:cxn>
              <a:cxn ang="0">
                <a:pos x="321972" y="104931"/>
              </a:cxn>
              <a:cxn ang="0">
                <a:pos x="115212" y="282154"/>
              </a:cxn>
              <a:cxn ang="0">
                <a:pos x="115212" y="297004"/>
              </a:cxn>
              <a:cxn ang="0">
                <a:pos x="129899" y="297004"/>
              </a:cxn>
              <a:cxn ang="0">
                <a:pos x="292435" y="134468"/>
              </a:cxn>
              <a:cxn ang="0">
                <a:pos x="277585" y="119781"/>
              </a:cxn>
              <a:cxn ang="0">
                <a:pos x="115212" y="282154"/>
              </a:cxn>
              <a:cxn ang="0">
                <a:pos x="41287" y="208392"/>
              </a:cxn>
              <a:cxn ang="0">
                <a:pos x="41287" y="223079"/>
              </a:cxn>
              <a:cxn ang="0">
                <a:pos x="56137" y="223079"/>
              </a:cxn>
              <a:cxn ang="0">
                <a:pos x="218510" y="60706"/>
              </a:cxn>
              <a:cxn ang="0">
                <a:pos x="203823" y="45856"/>
              </a:cxn>
              <a:cxn ang="0">
                <a:pos x="41287" y="208392"/>
              </a:cxn>
              <a:cxn ang="0">
                <a:pos x="233360" y="75393"/>
              </a:cxn>
              <a:cxn ang="0">
                <a:pos x="70824" y="237930"/>
              </a:cxn>
              <a:cxn ang="0">
                <a:pos x="70824" y="267467"/>
              </a:cxn>
              <a:cxn ang="0">
                <a:pos x="100361" y="267304"/>
              </a:cxn>
              <a:cxn ang="0">
                <a:pos x="262898" y="104931"/>
              </a:cxn>
              <a:cxn ang="0">
                <a:pos x="233360" y="75393"/>
              </a:cxn>
              <a:cxn ang="0">
                <a:pos x="100361" y="311691"/>
              </a:cxn>
              <a:cxn ang="0">
                <a:pos x="92039" y="293740"/>
              </a:cxn>
              <a:cxn ang="0">
                <a:pos x="85674" y="294393"/>
              </a:cxn>
              <a:cxn ang="0">
                <a:pos x="56137" y="282154"/>
              </a:cxn>
              <a:cxn ang="0">
                <a:pos x="43898" y="252617"/>
              </a:cxn>
              <a:cxn ang="0">
                <a:pos x="44387" y="246579"/>
              </a:cxn>
              <a:cxn ang="0">
                <a:pos x="26600" y="237930"/>
              </a:cxn>
              <a:cxn ang="0">
                <a:pos x="25457" y="236298"/>
              </a:cxn>
              <a:cxn ang="0">
                <a:pos x="0" y="338291"/>
              </a:cxn>
              <a:cxn ang="0">
                <a:pos x="101830" y="312834"/>
              </a:cxn>
              <a:cxn ang="0">
                <a:pos x="100361" y="311691"/>
              </a:cxn>
            </a:cxnLst>
            <a:pathLst>
              <a:path w="2073" h="2073">
                <a:moveTo>
                  <a:pt x="1973" y="643"/>
                </a:moveTo>
                <a:cubicBezTo>
                  <a:pt x="1883" y="734"/>
                  <a:pt x="1883" y="734"/>
                  <a:pt x="1883" y="734"/>
                </a:cubicBezTo>
                <a:cubicBezTo>
                  <a:pt x="1339" y="191"/>
                  <a:pt x="1339" y="191"/>
                  <a:pt x="1339" y="191"/>
                </a:cubicBezTo>
                <a:cubicBezTo>
                  <a:pt x="1430" y="100"/>
                  <a:pt x="1430" y="100"/>
                  <a:pt x="1430" y="100"/>
                </a:cubicBezTo>
                <a:cubicBezTo>
                  <a:pt x="1530" y="0"/>
                  <a:pt x="1692" y="0"/>
                  <a:pt x="1792" y="100"/>
                </a:cubicBezTo>
                <a:cubicBezTo>
                  <a:pt x="1973" y="281"/>
                  <a:pt x="1973" y="281"/>
                  <a:pt x="1973" y="281"/>
                </a:cubicBezTo>
                <a:cubicBezTo>
                  <a:pt x="2073" y="381"/>
                  <a:pt x="2073" y="543"/>
                  <a:pt x="1973" y="643"/>
                </a:cubicBezTo>
                <a:close/>
                <a:moveTo>
                  <a:pt x="706" y="1729"/>
                </a:moveTo>
                <a:cubicBezTo>
                  <a:pt x="681" y="1754"/>
                  <a:pt x="681" y="1795"/>
                  <a:pt x="706" y="1820"/>
                </a:cubicBezTo>
                <a:cubicBezTo>
                  <a:pt x="731" y="1845"/>
                  <a:pt x="771" y="1845"/>
                  <a:pt x="796" y="1820"/>
                </a:cubicBezTo>
                <a:cubicBezTo>
                  <a:pt x="1792" y="824"/>
                  <a:pt x="1792" y="824"/>
                  <a:pt x="1792" y="824"/>
                </a:cubicBezTo>
                <a:cubicBezTo>
                  <a:pt x="1701" y="734"/>
                  <a:pt x="1701" y="734"/>
                  <a:pt x="1701" y="734"/>
                </a:cubicBezTo>
                <a:lnTo>
                  <a:pt x="706" y="1729"/>
                </a:lnTo>
                <a:close/>
                <a:moveTo>
                  <a:pt x="253" y="1277"/>
                </a:moveTo>
                <a:cubicBezTo>
                  <a:pt x="228" y="1302"/>
                  <a:pt x="228" y="1342"/>
                  <a:pt x="253" y="1367"/>
                </a:cubicBezTo>
                <a:cubicBezTo>
                  <a:pt x="278" y="1392"/>
                  <a:pt x="319" y="1392"/>
                  <a:pt x="344" y="1367"/>
                </a:cubicBezTo>
                <a:cubicBezTo>
                  <a:pt x="1339" y="372"/>
                  <a:pt x="1339" y="372"/>
                  <a:pt x="1339" y="372"/>
                </a:cubicBezTo>
                <a:cubicBezTo>
                  <a:pt x="1249" y="281"/>
                  <a:pt x="1249" y="281"/>
                  <a:pt x="1249" y="281"/>
                </a:cubicBezTo>
                <a:lnTo>
                  <a:pt x="253" y="1277"/>
                </a:lnTo>
                <a:close/>
                <a:moveTo>
                  <a:pt x="1430" y="462"/>
                </a:moveTo>
                <a:cubicBezTo>
                  <a:pt x="434" y="1458"/>
                  <a:pt x="434" y="1458"/>
                  <a:pt x="434" y="1458"/>
                </a:cubicBezTo>
                <a:cubicBezTo>
                  <a:pt x="384" y="1507"/>
                  <a:pt x="384" y="1589"/>
                  <a:pt x="434" y="1639"/>
                </a:cubicBezTo>
                <a:cubicBezTo>
                  <a:pt x="484" y="1689"/>
                  <a:pt x="565" y="1689"/>
                  <a:pt x="615" y="1638"/>
                </a:cubicBezTo>
                <a:cubicBezTo>
                  <a:pt x="1611" y="643"/>
                  <a:pt x="1611" y="643"/>
                  <a:pt x="1611" y="643"/>
                </a:cubicBezTo>
                <a:lnTo>
                  <a:pt x="1430" y="462"/>
                </a:lnTo>
                <a:close/>
                <a:moveTo>
                  <a:pt x="615" y="1910"/>
                </a:moveTo>
                <a:cubicBezTo>
                  <a:pt x="584" y="1879"/>
                  <a:pt x="570" y="1840"/>
                  <a:pt x="564" y="1800"/>
                </a:cubicBezTo>
                <a:cubicBezTo>
                  <a:pt x="551" y="1802"/>
                  <a:pt x="538" y="1804"/>
                  <a:pt x="525" y="1804"/>
                </a:cubicBezTo>
                <a:cubicBezTo>
                  <a:pt x="456" y="1804"/>
                  <a:pt x="392" y="1777"/>
                  <a:pt x="344" y="1729"/>
                </a:cubicBezTo>
                <a:cubicBezTo>
                  <a:pt x="295" y="1681"/>
                  <a:pt x="269" y="1617"/>
                  <a:pt x="269" y="1548"/>
                </a:cubicBezTo>
                <a:cubicBezTo>
                  <a:pt x="269" y="1536"/>
                  <a:pt x="271" y="1524"/>
                  <a:pt x="272" y="1511"/>
                </a:cubicBezTo>
                <a:cubicBezTo>
                  <a:pt x="231" y="1506"/>
                  <a:pt x="193" y="1488"/>
                  <a:pt x="163" y="1458"/>
                </a:cubicBezTo>
                <a:cubicBezTo>
                  <a:pt x="160" y="1455"/>
                  <a:pt x="159" y="1451"/>
                  <a:pt x="156" y="1448"/>
                </a:cubicBezTo>
                <a:cubicBezTo>
                  <a:pt x="0" y="2073"/>
                  <a:pt x="0" y="2073"/>
                  <a:pt x="0" y="2073"/>
                </a:cubicBezTo>
                <a:cubicBezTo>
                  <a:pt x="624" y="1917"/>
                  <a:pt x="624" y="1917"/>
                  <a:pt x="624" y="1917"/>
                </a:cubicBezTo>
                <a:cubicBezTo>
                  <a:pt x="621" y="1914"/>
                  <a:pt x="618" y="1912"/>
                  <a:pt x="615" y="1910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</a:ln>
        </p:spPr>
        <p:txBody>
          <a:bodyPr/>
          <a:p>
            <a:endParaRPr lang="en-US"/>
          </a:p>
        </p:txBody>
      </p:sp>
      <p:pic>
        <p:nvPicPr>
          <p:cNvPr id="9235" name="图片 37" descr="C:/Users/preks/Desktop/1_WZdoYPpmiIk1AcPQ1YHWug.png1_WZdoYPpmiIk1AcPQ1YHWug"/>
          <p:cNvPicPr>
            <a:picLocks noChangeAspect="1"/>
          </p:cNvPicPr>
          <p:nvPr/>
        </p:nvPicPr>
        <p:blipFill>
          <a:blip r:embed="rId1"/>
          <a:srcRect l="13159" r="13159"/>
          <a:stretch>
            <a:fillRect/>
          </a:stretch>
        </p:blipFill>
        <p:spPr>
          <a:xfrm>
            <a:off x="810578" y="1849438"/>
            <a:ext cx="7148512" cy="34671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241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808163"/>
            <a:ext cx="5122863" cy="34131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25855"/>
          </a:xfrm>
          <a:ln>
            <a:solidFill>
              <a:schemeClr val="bg1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sz="3200" b="1" spc="300" noProof="0" dirty="0" smtClean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“Customer Churn Analysis in Telecom Industry”</a:t>
            </a:r>
            <a:endParaRPr kumimoji="0" lang="en-US" altLang="en-US" sz="3200" b="1" i="0" u="none" strike="noStrike" kern="1200" cap="none" spc="30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  <a:sym typeface="+mn-ea"/>
            </a:endParaRPr>
          </a:p>
        </p:txBody>
      </p:sp>
      <p:sp>
        <p:nvSpPr>
          <p:cNvPr id="10244" name="矩形 8"/>
          <p:cNvSpPr/>
          <p:nvPr/>
        </p:nvSpPr>
        <p:spPr>
          <a:xfrm>
            <a:off x="6096000" y="2243455"/>
            <a:ext cx="5756910" cy="28295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r>
              <a:rPr lang="en-US" altLang="en-US" sz="2400" b="1" u="sng" dirty="0">
                <a:solidFill>
                  <a:srgbClr val="1C7C5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Objectives</a:t>
            </a:r>
            <a:r>
              <a:rPr lang="en-IN" altLang="en-US" sz="2400" b="1" u="sng" dirty="0">
                <a:solidFill>
                  <a:srgbClr val="1C7C5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 :-</a:t>
            </a:r>
            <a:endParaRPr lang="en-IN" altLang="en-US" sz="2400" b="1" u="sng" dirty="0">
              <a:solidFill>
                <a:srgbClr val="1C7C5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>
              <a:buFont typeface="Arial" panose="020B0604020202020204" pitchFamily="34" charset="0"/>
            </a:pPr>
            <a:endParaRPr lang="en-US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To analyze customer data and understand churn behavior</a:t>
            </a:r>
            <a:endParaRPr lang="en-US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To identify key factors influencing customer churn</a:t>
            </a:r>
            <a:endParaRPr lang="en-US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To segment customers based on risk of churn</a:t>
            </a:r>
            <a:endParaRPr lang="en-US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To discover patterns using SQL and Python analysis</a:t>
            </a:r>
            <a:endParaRPr lang="en-US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To visualize insights using Power BI dashboard</a:t>
            </a:r>
            <a:endParaRPr lang="en-US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To provide actionable recommendations to reduce churn</a:t>
            </a:r>
            <a:endParaRPr lang="en-US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To help business improve customer retention and revenue</a:t>
            </a:r>
            <a:endParaRPr lang="en-US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b="1" spc="300" noProof="0" dirty="0" smtClean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  <a:sym typeface="+mn-ea"/>
              </a:rPr>
              <a:t>“Customer Churn Analysis in Telecom Industry”</a:t>
            </a:r>
            <a:endParaRPr kumimoji="0" lang="zh-CN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8472488" y="3886200"/>
            <a:ext cx="3009900" cy="1581150"/>
          </a:xfrm>
          <a:prstGeom prst="rect">
            <a:avLst/>
          </a:prstGeom>
          <a:blipFill dpi="0" rotWithShape="1">
            <a:blip r:embed="rId1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8647113" y="2133600"/>
            <a:ext cx="1371600" cy="158115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0152380" y="2133600"/>
            <a:ext cx="1330325" cy="158115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273" name="矩形 10"/>
          <p:cNvSpPr/>
          <p:nvPr/>
        </p:nvSpPr>
        <p:spPr>
          <a:xfrm>
            <a:off x="970280" y="2884170"/>
            <a:ext cx="6619875" cy="27952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Customer churn leads to significant revenue loss</a:t>
            </a:r>
            <a:endParaRPr lang="en-US" altLang="en-US" sz="1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Acquiring new customers is more costly than retaining existing ones</a:t>
            </a:r>
            <a:endParaRPr lang="en-US" altLang="en-US" sz="1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Difficulty in identifying customers who are likely to churn</a:t>
            </a:r>
            <a:endParaRPr lang="en-US" altLang="en-US" sz="1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Lack of clear insights into reasons behind customer churn</a:t>
            </a:r>
            <a:endParaRPr lang="en-US" altLang="en-US" sz="1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High churn impacts overall business growth and profitability</a:t>
            </a:r>
            <a:endParaRPr lang="en-US" altLang="en-US" sz="1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Ineffective customer retention strategies due to limited data analysis</a:t>
            </a:r>
            <a:endParaRPr lang="en-US" altLang="en-US" sz="1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Need for data-driven decision making to improve retention</a:t>
            </a:r>
            <a:endParaRPr lang="en-US" altLang="en-US" sz="1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1274" name="矩形 11"/>
          <p:cNvSpPr/>
          <p:nvPr/>
        </p:nvSpPr>
        <p:spPr>
          <a:xfrm>
            <a:off x="970280" y="2133600"/>
            <a:ext cx="574802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en-US" sz="3600" dirty="0">
                <a:solidFill>
                  <a:srgbClr val="1C7C5A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Business Problem</a:t>
            </a:r>
            <a:endParaRPr lang="en-US" altLang="en-US" sz="3600" dirty="0">
              <a:solidFill>
                <a:srgbClr val="1C7C5A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b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r>
              <a:rPr kumimoji="0" lang="en-US" altLang="en-US" sz="440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Data</a:t>
            </a:r>
            <a:r>
              <a:rPr kumimoji="0" lang="en-US" altLang="en-US" sz="4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Cleaning (SQL)</a:t>
            </a:r>
            <a:b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</a:br>
            <a:endParaRPr kumimoji="0" lang="en-US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593725" y="1821180"/>
            <a:ext cx="6290310" cy="4706620"/>
          </a:xfrm>
          <a:prstGeom prst="rect">
            <a:avLst/>
          </a:prstGeom>
          <a:solidFill>
            <a:srgbClr val="1665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152005" y="1821180"/>
            <a:ext cx="4679950" cy="2322195"/>
          </a:xfrm>
          <a:prstGeom prst="rect">
            <a:avLst/>
          </a:prstGeom>
          <a:solidFill>
            <a:srgbClr val="675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209155" y="4297045"/>
            <a:ext cx="4623435" cy="2233295"/>
          </a:xfrm>
          <a:prstGeom prst="rect">
            <a:avLst/>
          </a:prstGeom>
          <a:solidFill>
            <a:srgbClr val="E086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296" name="矩形 9"/>
          <p:cNvSpPr/>
          <p:nvPr/>
        </p:nvSpPr>
        <p:spPr>
          <a:xfrm>
            <a:off x="1200785" y="2553335"/>
            <a:ext cx="5076190" cy="31877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Checked for missing (NULL) values across all columns</a:t>
            </a:r>
            <a:endParaRPr lang="en-US" altLang="en-US" sz="2000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Verified absence of blank and empty values in key fields</a:t>
            </a:r>
            <a:endParaRPr lang="en-US" altLang="en-US" sz="2000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Validated consistency of categorical values (Yes/No, etc.)</a:t>
            </a:r>
            <a:endParaRPr lang="en-US" altLang="en-US" sz="2000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Ensured no data gaps that could affect analysis</a:t>
            </a:r>
            <a:endParaRPr lang="en-US" altLang="en-US" sz="2000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2000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Confirmed dataset completeness and reliability</a:t>
            </a:r>
            <a:endParaRPr lang="en-US" altLang="en-US" sz="2000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2297" name="矩形 10"/>
          <p:cNvSpPr/>
          <p:nvPr/>
        </p:nvSpPr>
        <p:spPr>
          <a:xfrm>
            <a:off x="7479030" y="4958080"/>
            <a:ext cx="4080510" cy="157226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Reviewed data types for all columns</a:t>
            </a:r>
            <a:endParaRPr lang="en-US" altLang="en-US" sz="1400" b="1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Converted TotalCharges from text to numeric format</a:t>
            </a:r>
            <a:endParaRPr lang="en-US" altLang="en-US" sz="1400" b="1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Ensured numerical fields are ready for calculations</a:t>
            </a:r>
            <a:endParaRPr lang="en-US" altLang="en-US" sz="1400" b="1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Standardized data for analysis and visualization</a:t>
            </a:r>
            <a:endParaRPr lang="en-US" altLang="en-US" sz="1400" b="1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Prepared dataset for efficient querying and reporting</a:t>
            </a:r>
            <a:endParaRPr lang="en-US" altLang="en-US" sz="1400" b="1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2298" name="矩形 11"/>
          <p:cNvSpPr/>
          <p:nvPr/>
        </p:nvSpPr>
        <p:spPr>
          <a:xfrm>
            <a:off x="7900035" y="4438968"/>
            <a:ext cx="324231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en-US" sz="24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Data Type Correction</a:t>
            </a:r>
            <a:endParaRPr lang="en-US" altLang="en-US" sz="24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299" name="矩形 12"/>
          <p:cNvSpPr/>
          <p:nvPr/>
        </p:nvSpPr>
        <p:spPr>
          <a:xfrm>
            <a:off x="7209155" y="2516505"/>
            <a:ext cx="4533900" cy="134683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Performed duplicate check using customerID</a:t>
            </a:r>
            <a:endParaRPr lang="en-US" altLang="en-US" sz="14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Ensured each record represents a unique customer</a:t>
            </a:r>
            <a:endParaRPr lang="en-US" altLang="en-US" sz="14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No duplicate entries found in the dataset</a:t>
            </a:r>
            <a:endParaRPr lang="en-US" altLang="en-US" sz="14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Maintained data integrity for accurate analysis</a:t>
            </a:r>
            <a:endParaRPr lang="en-US" altLang="en-US" sz="14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altLang="en-US" sz="14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Verified uniqueness of primary identifier</a:t>
            </a:r>
            <a:endParaRPr lang="en-US" altLang="en-US" sz="14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2300" name="矩形 13"/>
          <p:cNvSpPr/>
          <p:nvPr/>
        </p:nvSpPr>
        <p:spPr>
          <a:xfrm>
            <a:off x="8046720" y="2016443"/>
            <a:ext cx="285877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just"/>
            <a:r>
              <a:rPr lang="en-US" altLang="en-US" sz="2400" b="1" u="sng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Duplicate Records</a:t>
            </a:r>
            <a:endParaRPr lang="en-US" altLang="en-US" sz="2400" b="1" u="sng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2301" name="矩形 14"/>
          <p:cNvSpPr/>
          <p:nvPr/>
        </p:nvSpPr>
        <p:spPr>
          <a:xfrm>
            <a:off x="1500823" y="1909128"/>
            <a:ext cx="4154170" cy="52197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/>
            <a:r>
              <a:rPr lang="en-US" altLang="en-US" sz="2800" b="1" u="sng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Missing &amp; Blank Values</a:t>
            </a:r>
            <a:endParaRPr lang="en-US" altLang="en-US" sz="2800" b="1" u="sng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SQL Analysis Overview</a:t>
            </a:r>
            <a:endParaRPr kumimoji="0" lang="en-US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728345" y="1816100"/>
            <a:ext cx="8482965" cy="2919730"/>
          </a:xfrm>
          <a:prstGeom prst="rect">
            <a:avLst/>
          </a:prstGeom>
          <a:solidFill>
            <a:srgbClr val="675E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28345" y="4965065"/>
            <a:ext cx="8482965" cy="641350"/>
          </a:xfrm>
          <a:prstGeom prst="rect">
            <a:avLst/>
          </a:prstGeom>
          <a:solidFill>
            <a:srgbClr val="E36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324" name="矩形 13"/>
          <p:cNvSpPr/>
          <p:nvPr/>
        </p:nvSpPr>
        <p:spPr>
          <a:xfrm>
            <a:off x="1009015" y="2529205"/>
            <a:ext cx="7965440" cy="20396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Calculated overall customer churn rate</a:t>
            </a:r>
            <a:endParaRPr lang="en-US" altLang="en-US" sz="1800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Analyzed churn based on contract type</a:t>
            </a:r>
            <a:endParaRPr lang="en-US" altLang="en-US" sz="1800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Examined churn patterns across customer tenure</a:t>
            </a:r>
            <a:endParaRPr lang="en-US" altLang="en-US" sz="1800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Studied impact of monthly charges on churn</a:t>
            </a:r>
            <a:endParaRPr lang="en-US" altLang="en-US" sz="1800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Evaluated churn based on services (Internet, Tech Support, etc.)</a:t>
            </a:r>
            <a:endParaRPr lang="en-US" altLang="en-US" sz="1800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Analyzed customer behavior using payment methods</a:t>
            </a:r>
            <a:endParaRPr lang="en-US" altLang="en-US" sz="1800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Segmented customers into new and loyal groups</a:t>
            </a:r>
            <a:endParaRPr lang="en-US" altLang="en-US" sz="1800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325" name="矩形 14"/>
          <p:cNvSpPr/>
          <p:nvPr/>
        </p:nvSpPr>
        <p:spPr>
          <a:xfrm>
            <a:off x="1009015" y="2000885"/>
            <a:ext cx="7740015" cy="52832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pPr algn="ctr"/>
            <a:r>
              <a:rPr lang="en-US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SQL-Based Data Analysis</a:t>
            </a:r>
            <a:endParaRPr lang="en-US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3327" name="矩形 16"/>
          <p:cNvSpPr/>
          <p:nvPr/>
        </p:nvSpPr>
        <p:spPr>
          <a:xfrm>
            <a:off x="838200" y="5106035"/>
            <a:ext cx="8286750" cy="49974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pPr algn="ctr"/>
            <a:r>
              <a:rPr lang="en-US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“SQL analysis helped identify key patterns and factors influencing customer churn.”</a:t>
            </a:r>
            <a:endParaRPr lang="en-US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pic>
        <p:nvPicPr>
          <p:cNvPr id="2" name="Picture 1" descr="1753263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18980" y="1877695"/>
            <a:ext cx="2185670" cy="457708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SQL Analysis Overview</a:t>
            </a:r>
            <a:endParaRPr kumimoji="0" lang="en-US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28345" y="2015490"/>
            <a:ext cx="8482965" cy="2748280"/>
          </a:xfrm>
          <a:prstGeom prst="rect">
            <a:avLst/>
          </a:prstGeom>
          <a:solidFill>
            <a:srgbClr val="E36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324" name="矩形 13"/>
          <p:cNvSpPr/>
          <p:nvPr/>
        </p:nvSpPr>
        <p:spPr>
          <a:xfrm>
            <a:off x="1009015" y="2529205"/>
            <a:ext cx="7965440" cy="203962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noAutofit/>
          </a:bodyPr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altLang="en-US" sz="1800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13325" name="矩形 14"/>
          <p:cNvSpPr/>
          <p:nvPr/>
        </p:nvSpPr>
        <p:spPr>
          <a:xfrm>
            <a:off x="1099820" y="2117725"/>
            <a:ext cx="7740015" cy="52832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pPr algn="ctr"/>
            <a:r>
              <a:rPr lang="en-US" altLang="en-US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Key Insights from Analysis</a:t>
            </a:r>
            <a:endParaRPr lang="en-US" altLang="en-US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3327" name="矩形 16"/>
          <p:cNvSpPr/>
          <p:nvPr/>
        </p:nvSpPr>
        <p:spPr>
          <a:xfrm>
            <a:off x="838200" y="2788285"/>
            <a:ext cx="8286750" cy="2108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Customers with month-to-month contracts show the highest churn</a:t>
            </a:r>
            <a:endParaRPr lang="en-US" altLang="en-US" sz="1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New customers (low tenure) are more likely to churn</a:t>
            </a:r>
            <a:endParaRPr lang="en-US" altLang="en-US" sz="1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Higher monthly charges are associated with increased churn</a:t>
            </a:r>
            <a:endParaRPr lang="en-US" altLang="en-US" sz="1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Customers without tech support tend to leave more</a:t>
            </a:r>
            <a:endParaRPr lang="en-US" altLang="en-US" sz="1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Certain payment methods (like electronic check) show higher churn</a:t>
            </a:r>
            <a:endParaRPr lang="en-US" altLang="en-US" sz="1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altLang="en-US" sz="1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Fiber optic users have relatively higher churn compared to others</a:t>
            </a:r>
            <a:endParaRPr lang="en-US" altLang="en-US" sz="1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8345" y="5014595"/>
            <a:ext cx="8483600" cy="578485"/>
          </a:xfrm>
          <a:prstGeom prst="rect">
            <a:avLst/>
          </a:prstGeom>
          <a:solidFill>
            <a:schemeClr val="accent3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Customer churn is mainly influenced by contract type, tenure, service usage, and pricing.”</a:t>
            </a:r>
            <a:endParaRPr lang="en-US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 descr="imag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00870" y="1950720"/>
            <a:ext cx="2414270" cy="37376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1170"/>
            <a:ext cx="10515600" cy="875030"/>
          </a:xfr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 algn="ctr"/>
            <a:br>
              <a:rPr lang="en-US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en-US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Exploratory Data Analysis (EDA) Using Python</a:t>
            </a:r>
            <a:r>
              <a:rPr lang="en-IN" altLang="en-US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br>
              <a:rPr lang="en-US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97535" y="1770380"/>
            <a:ext cx="4398645" cy="4726305"/>
          </a:xfrm>
          <a:prstGeom prst="rect">
            <a:avLst/>
          </a:prstGeom>
          <a:solidFill>
            <a:srgbClr val="E08648"/>
          </a:solidFill>
        </p:spPr>
        <p:txBody>
          <a:bodyPr wrap="square" rtlCol="0" anchor="t" anchorCtr="0">
            <a:noAutofit/>
          </a:bodyPr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b="1">
                <a:solidFill>
                  <a:schemeClr val="bg1"/>
                </a:solidFill>
              </a:rPr>
              <a:t>Majority of customers have not churned, indicating a relatively stable customer base</a:t>
            </a:r>
            <a:r>
              <a:rPr lang="en-IN" altLang="en-US" b="1">
                <a:solidFill>
                  <a:schemeClr val="bg1"/>
                </a:solidFill>
              </a:rPr>
              <a:t>.</a:t>
            </a:r>
            <a:endParaRPr lang="en-US" altLang="en-US" b="1">
              <a:solidFill>
                <a:schemeClr val="bg1"/>
              </a:solidFill>
            </a:endParaRP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b="1">
                <a:solidFill>
                  <a:schemeClr val="bg1"/>
                </a:solidFill>
              </a:rPr>
              <a:t>A significant portion of customers have churned, showing a notable retention issue</a:t>
            </a:r>
            <a:r>
              <a:rPr lang="en-IN" altLang="en-US" b="1">
                <a:solidFill>
                  <a:schemeClr val="bg1"/>
                </a:solidFill>
              </a:rPr>
              <a:t>.</a:t>
            </a:r>
            <a:endParaRPr lang="en-US" altLang="en-US" b="1">
              <a:solidFill>
                <a:schemeClr val="bg1"/>
              </a:solidFill>
            </a:endParaRP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b="1">
                <a:solidFill>
                  <a:schemeClr val="bg1"/>
                </a:solidFill>
              </a:rPr>
              <a:t>The company needs to focus on reducing churn rate to improve profitability</a:t>
            </a:r>
            <a:r>
              <a:rPr lang="en-IN" altLang="en-US" b="1">
                <a:solidFill>
                  <a:schemeClr val="bg1"/>
                </a:solidFill>
              </a:rPr>
              <a:t>.</a:t>
            </a:r>
            <a:endParaRPr lang="en-US" altLang="en-US" b="1">
              <a:solidFill>
                <a:schemeClr val="bg1"/>
              </a:solidFill>
            </a:endParaRP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b="1">
                <a:solidFill>
                  <a:schemeClr val="bg1"/>
                </a:solidFill>
              </a:rPr>
              <a:t>Churned customers represent a potential loss of revenue and growth opportunities</a:t>
            </a:r>
            <a:r>
              <a:rPr lang="en-IN" altLang="en-US" b="1">
                <a:solidFill>
                  <a:schemeClr val="bg1"/>
                </a:solidFill>
              </a:rPr>
              <a:t>.</a:t>
            </a:r>
            <a:endParaRPr lang="en-IN" altLang="en-US" b="1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41045" y="2134870"/>
            <a:ext cx="4137660" cy="5219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en-US" altLang="en-US" sz="28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Churn Distribution</a:t>
            </a:r>
            <a:endParaRPr lang="en-US" altLang="en-US" sz="28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 descr="customer churn distribu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7225" y="1770380"/>
            <a:ext cx="5325745" cy="4725670"/>
          </a:xfrm>
          <a:prstGeom prst="rect">
            <a:avLst/>
          </a:prstGeom>
          <a:ln>
            <a:solidFill>
              <a:schemeClr val="bg1"/>
            </a:solidFill>
          </a:ln>
          <a:effectLst>
            <a:innerShdw blurRad="114300">
              <a:prstClr val="black"/>
            </a:innerShdw>
          </a:effec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1170"/>
            <a:ext cx="10515600" cy="875030"/>
          </a:xfr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 algn="ctr"/>
            <a:br>
              <a:rPr lang="en-US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en-US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Exploratory Data Analysis (EDA) Using Python</a:t>
            </a:r>
            <a:r>
              <a:rPr lang="en-IN" altLang="en-US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br>
              <a:rPr lang="en-US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97535" y="1770380"/>
            <a:ext cx="4398645" cy="4726305"/>
          </a:xfrm>
          <a:prstGeom prst="rect">
            <a:avLst/>
          </a:prstGeom>
          <a:solidFill>
            <a:srgbClr val="1C7C5A"/>
          </a:solidFill>
        </p:spPr>
        <p:txBody>
          <a:bodyPr wrap="square" rtlCol="0" anchor="t" anchorCtr="0">
            <a:noAutofit/>
          </a:bodyPr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bg1"/>
                </a:solidFill>
              </a:rPr>
              <a:t>Customers with month-to-month contracts have the highest churn rate</a:t>
            </a:r>
            <a:r>
              <a:rPr lang="en-IN" altLang="en-US" sz="1800" b="1">
                <a:solidFill>
                  <a:schemeClr val="bg1"/>
                </a:solidFill>
              </a:rPr>
              <a:t>.</a:t>
            </a:r>
            <a:endParaRPr lang="en-US" altLang="en-US" sz="1800" b="1">
              <a:solidFill>
                <a:schemeClr val="bg1"/>
              </a:solidFill>
            </a:endParaRPr>
          </a:p>
          <a:p>
            <a:pPr algn="just">
              <a:buFont typeface="Wingdings" panose="05000000000000000000" charset="0"/>
            </a:pPr>
            <a:endParaRPr lang="en-US" altLang="en-US" sz="1800" b="1">
              <a:solidFill>
                <a:schemeClr val="bg1"/>
              </a:solidFill>
            </a:endParaRP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bg1"/>
                </a:solidFill>
              </a:rPr>
              <a:t>Long-term contracts (one-year and two-year) show significantly lower churn</a:t>
            </a:r>
            <a:r>
              <a:rPr lang="en-IN" altLang="en-US" sz="1800" b="1">
                <a:solidFill>
                  <a:schemeClr val="bg1"/>
                </a:solidFill>
              </a:rPr>
              <a:t>.</a:t>
            </a:r>
            <a:endParaRPr lang="en-US" altLang="en-US" sz="1800" b="1">
              <a:solidFill>
                <a:schemeClr val="bg1"/>
              </a:solidFill>
            </a:endParaRPr>
          </a:p>
          <a:p>
            <a:pPr algn="just">
              <a:buFont typeface="Wingdings" panose="05000000000000000000" charset="0"/>
            </a:pPr>
            <a:endParaRPr lang="en-US" altLang="en-US" sz="1800" b="1">
              <a:solidFill>
                <a:schemeClr val="bg1"/>
              </a:solidFill>
            </a:endParaRP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bg1"/>
                </a:solidFill>
              </a:rPr>
              <a:t>Customers with longer commitments are more loyal and stable</a:t>
            </a:r>
            <a:r>
              <a:rPr lang="en-IN" altLang="en-US" sz="1800" b="1">
                <a:solidFill>
                  <a:schemeClr val="bg1"/>
                </a:solidFill>
              </a:rPr>
              <a:t>.</a:t>
            </a:r>
            <a:endParaRPr lang="en-US" altLang="en-US" sz="1800" b="1">
              <a:solidFill>
                <a:schemeClr val="bg1"/>
              </a:solidFill>
            </a:endParaRPr>
          </a:p>
          <a:p>
            <a:pPr algn="just">
              <a:buFont typeface="Wingdings" panose="05000000000000000000" charset="0"/>
            </a:pPr>
            <a:endParaRPr lang="en-US" altLang="en-US" sz="1800" b="1">
              <a:solidFill>
                <a:schemeClr val="bg1"/>
              </a:solidFill>
            </a:endParaRP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bg1"/>
                </a:solidFill>
              </a:rPr>
              <a:t>Encouraging long-term contracts can help reduce churn effectively</a:t>
            </a:r>
            <a:r>
              <a:rPr lang="en-IN" altLang="en-US" sz="1800" b="1">
                <a:solidFill>
                  <a:schemeClr val="bg1"/>
                </a:solidFill>
              </a:rPr>
              <a:t>.</a:t>
            </a:r>
            <a:endParaRPr lang="en-IN" altLang="en-US" sz="1800" b="1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41045" y="2134870"/>
            <a:ext cx="4137660" cy="5219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en-US" altLang="en-US" sz="28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Churn by Contract</a:t>
            </a:r>
            <a:endParaRPr lang="en-US" altLang="en-US" sz="28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 descr="Churn by Contrac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3400" y="1771015"/>
            <a:ext cx="5740400" cy="4725670"/>
          </a:xfrm>
          <a:prstGeom prst="rect">
            <a:avLst/>
          </a:prstGeom>
          <a:ln>
            <a:solidFill>
              <a:schemeClr val="bg1"/>
            </a:solidFill>
          </a:ln>
          <a:effectLst>
            <a:innerShdw blurRad="114300">
              <a:prstClr val="black"/>
            </a:innerShdw>
          </a:effec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1170"/>
            <a:ext cx="10515600" cy="875030"/>
          </a:xfr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 algn="ctr"/>
            <a:br>
              <a:rPr lang="en-US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en-US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Exploratory Data Analysis (EDA) Using Python</a:t>
            </a:r>
            <a:r>
              <a:rPr lang="en-IN" altLang="en-US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br>
              <a:rPr lang="en-US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97535" y="1770380"/>
            <a:ext cx="4398645" cy="4726305"/>
          </a:xfrm>
          <a:prstGeom prst="rect">
            <a:avLst/>
          </a:prstGeom>
          <a:solidFill>
            <a:srgbClr val="675E8C"/>
          </a:solidFill>
        </p:spPr>
        <p:txBody>
          <a:bodyPr wrap="square" rtlCol="0" anchor="t" anchorCtr="0">
            <a:noAutofit/>
          </a:bodyPr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bg1"/>
                </a:solidFill>
              </a:rPr>
              <a:t>Customers with low tenure (new customers) show higher churn</a:t>
            </a:r>
            <a:r>
              <a:rPr lang="en-IN" altLang="en-US" sz="1800" b="1">
                <a:solidFill>
                  <a:schemeClr val="bg1"/>
                </a:solidFill>
              </a:rPr>
              <a:t>.</a:t>
            </a:r>
            <a:endParaRPr lang="en-US" altLang="en-US" sz="1800" b="1">
              <a:solidFill>
                <a:schemeClr val="bg1"/>
              </a:solidFill>
            </a:endParaRPr>
          </a:p>
          <a:p>
            <a:pPr algn="just">
              <a:buFont typeface="Wingdings" panose="05000000000000000000" charset="0"/>
            </a:pPr>
            <a:endParaRPr lang="en-US" altLang="en-US" sz="1800" b="1">
              <a:solidFill>
                <a:schemeClr val="bg1"/>
              </a:solidFill>
            </a:endParaRP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bg1"/>
                </a:solidFill>
              </a:rPr>
              <a:t>Long-term customers are more likely to stay with the company</a:t>
            </a:r>
            <a:r>
              <a:rPr lang="en-IN" altLang="en-US" sz="1800" b="1">
                <a:solidFill>
                  <a:schemeClr val="bg1"/>
                </a:solidFill>
              </a:rPr>
              <a:t>.</a:t>
            </a:r>
            <a:endParaRPr lang="en-US" altLang="en-US" sz="1800" b="1">
              <a:solidFill>
                <a:schemeClr val="bg1"/>
              </a:solidFill>
            </a:endParaRPr>
          </a:p>
          <a:p>
            <a:pPr algn="just">
              <a:buFont typeface="Wingdings" panose="05000000000000000000" charset="0"/>
            </a:pPr>
            <a:endParaRPr lang="en-US" altLang="en-US" sz="1800" b="1">
              <a:solidFill>
                <a:schemeClr val="bg1"/>
              </a:solidFill>
            </a:endParaRP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bg1"/>
                </a:solidFill>
              </a:rPr>
              <a:t>Initial months are critical for customer retention</a:t>
            </a:r>
            <a:r>
              <a:rPr lang="en-IN" altLang="en-US" sz="1800" b="1">
                <a:solidFill>
                  <a:schemeClr val="bg1"/>
                </a:solidFill>
              </a:rPr>
              <a:t>.</a:t>
            </a:r>
            <a:endParaRPr lang="en-US" altLang="en-US" sz="1800" b="1">
              <a:solidFill>
                <a:schemeClr val="bg1"/>
              </a:solidFill>
            </a:endParaRPr>
          </a:p>
          <a:p>
            <a:pPr algn="just">
              <a:buFont typeface="Wingdings" panose="05000000000000000000" charset="0"/>
            </a:pPr>
            <a:endParaRPr lang="en-US" altLang="en-US" sz="1800" b="1">
              <a:solidFill>
                <a:schemeClr val="bg1"/>
              </a:solidFill>
            </a:endParaRP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bg1"/>
                </a:solidFill>
              </a:rPr>
              <a:t>Improving early customer experience can significantly reduce churn</a:t>
            </a:r>
            <a:r>
              <a:rPr lang="en-IN" altLang="en-US" sz="1800" b="1">
                <a:solidFill>
                  <a:schemeClr val="bg1"/>
                </a:solidFill>
              </a:rPr>
              <a:t>.</a:t>
            </a:r>
            <a:endParaRPr lang="en-IN" altLang="en-US" sz="1800" b="1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41045" y="2134870"/>
            <a:ext cx="4137660" cy="5219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en-US" altLang="en-US" sz="28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Churn by Tenure</a:t>
            </a:r>
            <a:endParaRPr lang="en-US" altLang="en-US" sz="28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 descr="Churn by Tenur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9130" y="1770380"/>
            <a:ext cx="5991225" cy="4726305"/>
          </a:xfrm>
          <a:prstGeom prst="rect">
            <a:avLst/>
          </a:prstGeom>
          <a:ln>
            <a:solidFill>
              <a:schemeClr val="bg1"/>
            </a:solidFill>
          </a:ln>
          <a:effectLst>
            <a:innerShdw blurRad="114300">
              <a:prstClr val="black"/>
            </a:innerShdw>
          </a:effec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1170"/>
            <a:ext cx="10515600" cy="875030"/>
          </a:xfr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 algn="ctr"/>
            <a:br>
              <a:rPr lang="en-US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en-US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Exploratory Data Analysis (EDA) Using Python</a:t>
            </a:r>
            <a:r>
              <a:rPr lang="en-IN" altLang="en-US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br>
              <a:rPr lang="en-US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97535" y="1770380"/>
            <a:ext cx="4398645" cy="4726305"/>
          </a:xfrm>
          <a:prstGeom prst="rect">
            <a:avLst/>
          </a:prstGeom>
          <a:solidFill>
            <a:srgbClr val="E36C64"/>
          </a:solidFill>
        </p:spPr>
        <p:txBody>
          <a:bodyPr wrap="square" rtlCol="0" anchor="t" anchorCtr="0">
            <a:noAutofit/>
          </a:bodyPr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bg1"/>
                </a:solidFill>
              </a:rPr>
              <a:t>Customers with higher monthly charges tend to churn more</a:t>
            </a:r>
            <a:r>
              <a:rPr lang="en-IN" altLang="en-US" sz="1800" b="1">
                <a:solidFill>
                  <a:schemeClr val="bg1"/>
                </a:solidFill>
              </a:rPr>
              <a:t>.</a:t>
            </a:r>
            <a:endParaRPr lang="en-IN" altLang="en-US" sz="1800" b="1">
              <a:solidFill>
                <a:schemeClr val="bg1"/>
              </a:solidFill>
            </a:endParaRPr>
          </a:p>
          <a:p>
            <a:pPr algn="just">
              <a:buFont typeface="Wingdings" panose="05000000000000000000" charset="0"/>
            </a:pPr>
            <a:endParaRPr lang="en-US" altLang="en-US" sz="1800" b="1">
              <a:solidFill>
                <a:schemeClr val="bg1"/>
              </a:solidFill>
            </a:endParaRP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bg1"/>
                </a:solidFill>
              </a:rPr>
              <a:t>Lower charges are associated with better customer retention</a:t>
            </a:r>
            <a:r>
              <a:rPr lang="en-IN" altLang="en-US" sz="1800" b="1">
                <a:solidFill>
                  <a:schemeClr val="bg1"/>
                </a:solidFill>
              </a:rPr>
              <a:t>.</a:t>
            </a:r>
            <a:endParaRPr lang="en-IN" altLang="en-US" sz="1800" b="1">
              <a:solidFill>
                <a:schemeClr val="bg1"/>
              </a:solidFill>
            </a:endParaRPr>
          </a:p>
          <a:p>
            <a:pPr algn="just">
              <a:buFont typeface="Wingdings" panose="05000000000000000000" charset="0"/>
            </a:pPr>
            <a:endParaRPr lang="en-US" altLang="en-US" sz="1800" b="1">
              <a:solidFill>
                <a:schemeClr val="bg1"/>
              </a:solidFill>
            </a:endParaRP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bg1"/>
                </a:solidFill>
              </a:rPr>
              <a:t>Pricing plays an important role in customer satisfaction</a:t>
            </a:r>
            <a:r>
              <a:rPr lang="en-IN" altLang="en-US" sz="1800" b="1">
                <a:solidFill>
                  <a:schemeClr val="bg1"/>
                </a:solidFill>
              </a:rPr>
              <a:t>.</a:t>
            </a:r>
            <a:endParaRPr lang="en-IN" altLang="en-US" sz="1800" b="1">
              <a:solidFill>
                <a:schemeClr val="bg1"/>
              </a:solidFill>
            </a:endParaRPr>
          </a:p>
          <a:p>
            <a:pPr algn="just">
              <a:buFont typeface="Wingdings" panose="05000000000000000000" charset="0"/>
            </a:pPr>
            <a:endParaRPr lang="en-US" altLang="en-US" sz="1800" b="1">
              <a:solidFill>
                <a:schemeClr val="bg1"/>
              </a:solidFill>
            </a:endParaRP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bg1"/>
                </a:solidFill>
              </a:rPr>
              <a:t>Offering competitive pricing may help reduce churn rate</a:t>
            </a:r>
            <a:endParaRPr lang="en-US" altLang="en-US" sz="1800" b="1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41045" y="2134870"/>
            <a:ext cx="4137660" cy="5219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en-US" altLang="en-US" sz="28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Churn by Monthly Charges</a:t>
            </a:r>
            <a:endParaRPr lang="en-US" altLang="en-US" sz="28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 descr="Churn by Monthly Charg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0555" y="1770380"/>
            <a:ext cx="5642610" cy="4726305"/>
          </a:xfrm>
          <a:prstGeom prst="rect">
            <a:avLst/>
          </a:prstGeom>
          <a:ln>
            <a:solidFill>
              <a:schemeClr val="bg1"/>
            </a:solidFill>
          </a:ln>
          <a:effectLst>
            <a:innerShdw blurRad="114300">
              <a:prstClr val="black"/>
            </a:innerShdw>
          </a:effec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1170"/>
            <a:ext cx="10515600" cy="875030"/>
          </a:xfr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 algn="ctr"/>
            <a:br>
              <a:rPr lang="en-US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en-US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Exploratory Data Analysis (EDA) Using Python</a:t>
            </a:r>
            <a:r>
              <a:rPr lang="en-IN" altLang="en-US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br>
              <a:rPr lang="en-US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97535" y="1770380"/>
            <a:ext cx="4398645" cy="4726305"/>
          </a:xfrm>
          <a:prstGeom prst="rect">
            <a:avLst/>
          </a:prstGeom>
          <a:solidFill>
            <a:schemeClr val="accent5"/>
          </a:solidFill>
        </p:spPr>
        <p:txBody>
          <a:bodyPr wrap="square" rtlCol="0" anchor="t" anchorCtr="0">
            <a:noAutofit/>
          </a:bodyPr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bg1"/>
                </a:solidFill>
              </a:rPr>
              <a:t>Customers without tech support have higher churn</a:t>
            </a:r>
            <a:r>
              <a:rPr lang="en-IN" altLang="en-US" sz="1800" b="1">
                <a:solidFill>
                  <a:schemeClr val="bg1"/>
                </a:solidFill>
              </a:rPr>
              <a:t>.</a:t>
            </a:r>
            <a:endParaRPr lang="en-IN" altLang="en-US" sz="1800" b="1">
              <a:solidFill>
                <a:schemeClr val="bg1"/>
              </a:solidFill>
            </a:endParaRPr>
          </a:p>
          <a:p>
            <a:pPr algn="just">
              <a:buFont typeface="Wingdings" panose="05000000000000000000" charset="0"/>
            </a:pPr>
            <a:endParaRPr lang="en-US" altLang="en-US" sz="1800" b="1">
              <a:solidFill>
                <a:schemeClr val="bg1"/>
              </a:solidFill>
            </a:endParaRP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bg1"/>
                </a:solidFill>
              </a:rPr>
              <a:t>Customers with support services are more satisfied and retained</a:t>
            </a:r>
            <a:r>
              <a:rPr lang="en-IN" altLang="en-US" sz="1800" b="1">
                <a:solidFill>
                  <a:schemeClr val="bg1"/>
                </a:solidFill>
              </a:rPr>
              <a:t>.</a:t>
            </a:r>
            <a:endParaRPr lang="en-IN" altLang="en-US" sz="1800" b="1">
              <a:solidFill>
                <a:schemeClr val="bg1"/>
              </a:solidFill>
            </a:endParaRPr>
          </a:p>
          <a:p>
            <a:pPr algn="just">
              <a:buFont typeface="Wingdings" panose="05000000000000000000" charset="0"/>
            </a:pPr>
            <a:endParaRPr lang="en-US" altLang="en-US" sz="1800" b="1">
              <a:solidFill>
                <a:schemeClr val="bg1"/>
              </a:solidFill>
            </a:endParaRP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bg1"/>
                </a:solidFill>
              </a:rPr>
              <a:t>Lack of support may lead to customer dissatisfaction</a:t>
            </a:r>
            <a:r>
              <a:rPr lang="en-IN" altLang="en-US" sz="1800" b="1">
                <a:solidFill>
                  <a:schemeClr val="bg1"/>
                </a:solidFill>
              </a:rPr>
              <a:t>.</a:t>
            </a:r>
            <a:endParaRPr lang="en-IN" altLang="en-US" sz="1800" b="1">
              <a:solidFill>
                <a:schemeClr val="bg1"/>
              </a:solidFill>
            </a:endParaRPr>
          </a:p>
          <a:p>
            <a:pPr algn="just">
              <a:buFont typeface="Wingdings" panose="05000000000000000000" charset="0"/>
            </a:pPr>
            <a:endParaRPr lang="en-US" altLang="en-US" sz="1800" b="1">
              <a:solidFill>
                <a:schemeClr val="bg1"/>
              </a:solidFill>
            </a:endParaRP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bg1"/>
                </a:solidFill>
              </a:rPr>
              <a:t>Improving support services can help reduce churn</a:t>
            </a:r>
            <a:endParaRPr lang="en-US" altLang="en-US" sz="1800" b="1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41045" y="2134870"/>
            <a:ext cx="4137660" cy="52197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ctr"/>
            <a:r>
              <a:rPr lang="en-US" altLang="en-US" sz="28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Churn by Tech Support</a:t>
            </a:r>
            <a:endParaRPr lang="en-US" altLang="en-US" sz="28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5" descr="Churn by Tech Suppor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7070" y="1771015"/>
            <a:ext cx="5586730" cy="4725670"/>
          </a:xfrm>
          <a:prstGeom prst="rect">
            <a:avLst/>
          </a:prstGeom>
          <a:ln>
            <a:solidFill>
              <a:schemeClr val="bg1"/>
            </a:solidFill>
          </a:ln>
          <a:effectLst>
            <a:innerShdw blurRad="114300">
              <a:prstClr val="black"/>
            </a:innerShdw>
          </a:effec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71170"/>
            <a:ext cx="10515600" cy="875030"/>
          </a:xfr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/>
          <a:p>
            <a:pPr algn="ctr"/>
            <a:br>
              <a:rPr lang="en-US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altLang="en-US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Exploratory Data Analysis (EDA) Using Python</a:t>
            </a:r>
            <a:r>
              <a:rPr lang="en-IN" altLang="en-US" sz="4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 </a:t>
            </a:r>
            <a:br>
              <a:rPr lang="en-US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97535" y="1770380"/>
            <a:ext cx="4398645" cy="4726305"/>
          </a:xfrm>
          <a:prstGeom prst="rect">
            <a:avLst/>
          </a:prstGeom>
          <a:solidFill>
            <a:srgbClr val="E08648"/>
          </a:solidFill>
        </p:spPr>
        <p:txBody>
          <a:bodyPr wrap="square" rtlCol="0" anchor="t" anchorCtr="0">
            <a:noAutofit/>
          </a:bodyPr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endParaRPr lang="en-US" sz="1800"/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bg1"/>
                </a:solidFill>
              </a:rPr>
              <a:t>Certain payment methods show higher churn rates</a:t>
            </a:r>
            <a:r>
              <a:rPr lang="en-IN" altLang="en-US" sz="1800" b="1">
                <a:solidFill>
                  <a:schemeClr val="bg1"/>
                </a:solidFill>
              </a:rPr>
              <a:t>.</a:t>
            </a:r>
            <a:endParaRPr lang="en-IN" altLang="en-US" sz="1800" b="1">
              <a:solidFill>
                <a:schemeClr val="bg1"/>
              </a:solidFill>
            </a:endParaRPr>
          </a:p>
          <a:p>
            <a:pPr algn="just">
              <a:buFont typeface="Wingdings" panose="05000000000000000000" charset="0"/>
            </a:pPr>
            <a:endParaRPr lang="en-US" altLang="en-US" sz="1800" b="1">
              <a:solidFill>
                <a:schemeClr val="bg1"/>
              </a:solidFill>
            </a:endParaRP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bg1"/>
                </a:solidFill>
              </a:rPr>
              <a:t>Customers using electronic payment methods may churn more</a:t>
            </a:r>
            <a:r>
              <a:rPr lang="en-IN" altLang="en-US" sz="1800" b="1">
                <a:solidFill>
                  <a:schemeClr val="bg1"/>
                </a:solidFill>
              </a:rPr>
              <a:t>.</a:t>
            </a:r>
            <a:endParaRPr lang="en-IN" altLang="en-US" sz="1800" b="1">
              <a:solidFill>
                <a:schemeClr val="bg1"/>
              </a:solidFill>
            </a:endParaRPr>
          </a:p>
          <a:p>
            <a:pPr algn="just">
              <a:buFont typeface="Wingdings" panose="05000000000000000000" charset="0"/>
            </a:pPr>
            <a:endParaRPr lang="en-US" altLang="en-US" sz="1800" b="1">
              <a:solidFill>
                <a:schemeClr val="bg1"/>
              </a:solidFill>
            </a:endParaRP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bg1"/>
                </a:solidFill>
              </a:rPr>
              <a:t>Payment experience impacts customer behavior</a:t>
            </a:r>
            <a:r>
              <a:rPr lang="en-IN" altLang="en-US" sz="1800" b="1">
                <a:solidFill>
                  <a:schemeClr val="bg1"/>
                </a:solidFill>
              </a:rPr>
              <a:t>.</a:t>
            </a:r>
            <a:endParaRPr lang="en-IN" altLang="en-US" sz="1800" b="1">
              <a:solidFill>
                <a:schemeClr val="bg1"/>
              </a:solidFill>
            </a:endParaRPr>
          </a:p>
          <a:p>
            <a:pPr algn="just">
              <a:buFont typeface="Wingdings" panose="05000000000000000000" charset="0"/>
            </a:pPr>
            <a:endParaRPr lang="en-US" altLang="en-US" sz="1800" b="1">
              <a:solidFill>
                <a:schemeClr val="bg1"/>
              </a:solidFill>
            </a:endParaRPr>
          </a:p>
          <a:p>
            <a:pPr marL="342900" indent="-34290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bg1"/>
                </a:solidFill>
              </a:rPr>
              <a:t>Improving payment flexibility can help increase retention</a:t>
            </a:r>
            <a:r>
              <a:rPr lang="en-IN" altLang="en-US" sz="1800" b="1">
                <a:solidFill>
                  <a:schemeClr val="bg1"/>
                </a:solidFill>
              </a:rPr>
              <a:t>.</a:t>
            </a:r>
            <a:endParaRPr lang="en-IN" altLang="en-US" sz="1800" b="1">
              <a:solidFill>
                <a:schemeClr val="bg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41045" y="2134870"/>
            <a:ext cx="4137660" cy="4603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rtlCol="0">
            <a:spAutoFit/>
          </a:bodyPr>
          <a:p>
            <a:pPr algn="l"/>
            <a:r>
              <a:rPr lang="en-US" altLang="en-US" sz="24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Churn by Payment Method</a:t>
            </a:r>
            <a:endParaRPr lang="en-US" altLang="en-US" sz="24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 descr="Payment Method heatmap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9275" y="1770380"/>
            <a:ext cx="5791835" cy="4726305"/>
          </a:xfrm>
          <a:prstGeom prst="rect">
            <a:avLst/>
          </a:prstGeom>
          <a:ln>
            <a:solidFill>
              <a:schemeClr val="bg1"/>
            </a:solidFill>
          </a:ln>
          <a:effectLst>
            <a:innerShdw blurRad="114300">
              <a:prstClr val="black"/>
            </a:innerShdw>
          </a:effectLst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en-US" b="1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j-ea"/>
                <a:sym typeface="+mn-ea"/>
              </a:rPr>
              <a:t>Customer Churn Insights</a:t>
            </a:r>
            <a:r>
              <a:rPr lang="en-IN" altLang="en-US" b="1" noProof="0" dirty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ea typeface="+mj-ea"/>
                <a:sym typeface="+mn-ea"/>
              </a:rPr>
              <a:t> </a:t>
            </a:r>
            <a:endParaRPr kumimoji="0" lang="en-IN" altLang="en-US" sz="4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  <a:sym typeface="+mn-ea"/>
            </a:endParaRPr>
          </a:p>
        </p:txBody>
      </p:sp>
      <p:grpSp>
        <p:nvGrpSpPr>
          <p:cNvPr id="21506" name="组合 2"/>
          <p:cNvGrpSpPr/>
          <p:nvPr/>
        </p:nvGrpSpPr>
        <p:grpSpPr>
          <a:xfrm>
            <a:off x="839788" y="2489200"/>
            <a:ext cx="6946900" cy="1879600"/>
            <a:chOff x="831550" y="1753094"/>
            <a:chExt cx="6947017" cy="1879106"/>
          </a:xfrm>
        </p:grpSpPr>
        <p:sp>
          <p:nvSpPr>
            <p:cNvPr id="5" name="空心弧 4"/>
            <p:cNvSpPr/>
            <p:nvPr/>
          </p:nvSpPr>
          <p:spPr>
            <a:xfrm>
              <a:off x="5908042" y="1765794"/>
              <a:ext cx="1866406" cy="1866406"/>
            </a:xfrm>
            <a:prstGeom prst="blockArc">
              <a:avLst>
                <a:gd name="adj1" fmla="val 10800000"/>
                <a:gd name="adj2" fmla="val 0"/>
                <a:gd name="adj3" fmla="val 9314"/>
              </a:avLst>
            </a:prstGeom>
            <a:solidFill>
              <a:srgbClr val="1C7C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空心弧 5"/>
            <p:cNvSpPr/>
            <p:nvPr/>
          </p:nvSpPr>
          <p:spPr>
            <a:xfrm>
              <a:off x="4215721" y="1765794"/>
              <a:ext cx="1866406" cy="1866406"/>
            </a:xfrm>
            <a:prstGeom prst="blockArc">
              <a:avLst>
                <a:gd name="adj1" fmla="val 10800000"/>
                <a:gd name="adj2" fmla="val 0"/>
                <a:gd name="adj3" fmla="val 9314"/>
              </a:avLst>
            </a:prstGeom>
            <a:solidFill>
              <a:srgbClr val="E36C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空心弧 6"/>
            <p:cNvSpPr/>
            <p:nvPr/>
          </p:nvSpPr>
          <p:spPr>
            <a:xfrm flipV="1">
              <a:off x="831550" y="1753094"/>
              <a:ext cx="1866406" cy="1866406"/>
            </a:xfrm>
            <a:prstGeom prst="blockArc">
              <a:avLst>
                <a:gd name="adj1" fmla="val 10800000"/>
                <a:gd name="adj2" fmla="val 0"/>
                <a:gd name="adj3" fmla="val 9314"/>
              </a:avLst>
            </a:prstGeom>
            <a:solidFill>
              <a:srgbClr val="E086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8" name="空心弧 7"/>
            <p:cNvSpPr/>
            <p:nvPr/>
          </p:nvSpPr>
          <p:spPr>
            <a:xfrm flipV="1">
              <a:off x="2523871" y="1753094"/>
              <a:ext cx="1866406" cy="1866406"/>
            </a:xfrm>
            <a:prstGeom prst="blockArc">
              <a:avLst>
                <a:gd name="adj1" fmla="val 10800000"/>
                <a:gd name="adj2" fmla="val 0"/>
                <a:gd name="adj3" fmla="val 9314"/>
              </a:avLst>
            </a:prstGeom>
            <a:solidFill>
              <a:srgbClr val="1665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9" name="空心弧 8"/>
            <p:cNvSpPr/>
            <p:nvPr/>
          </p:nvSpPr>
          <p:spPr>
            <a:xfrm flipV="1">
              <a:off x="4215721" y="1753094"/>
              <a:ext cx="1866406" cy="1866406"/>
            </a:xfrm>
            <a:prstGeom prst="blockArc">
              <a:avLst>
                <a:gd name="adj1" fmla="val 10800000"/>
                <a:gd name="adj2" fmla="val 0"/>
                <a:gd name="adj3" fmla="val 9314"/>
              </a:avLst>
            </a:prstGeom>
            <a:solidFill>
              <a:srgbClr val="675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0" name="空心弧 9"/>
            <p:cNvSpPr/>
            <p:nvPr/>
          </p:nvSpPr>
          <p:spPr>
            <a:xfrm flipV="1">
              <a:off x="5912161" y="1753094"/>
              <a:ext cx="1866406" cy="1866406"/>
            </a:xfrm>
            <a:prstGeom prst="blockArc">
              <a:avLst>
                <a:gd name="adj1" fmla="val 10800000"/>
                <a:gd name="adj2" fmla="val 0"/>
                <a:gd name="adj3" fmla="val 9314"/>
              </a:avLst>
            </a:prstGeom>
            <a:solidFill>
              <a:srgbClr val="E36C6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1" name="空心弧 10"/>
            <p:cNvSpPr/>
            <p:nvPr/>
          </p:nvSpPr>
          <p:spPr>
            <a:xfrm>
              <a:off x="2523400" y="1765794"/>
              <a:ext cx="1866406" cy="1866406"/>
            </a:xfrm>
            <a:prstGeom prst="blockArc">
              <a:avLst>
                <a:gd name="adj1" fmla="val 10800000"/>
                <a:gd name="adj2" fmla="val 0"/>
                <a:gd name="adj3" fmla="val 9314"/>
              </a:avLst>
            </a:prstGeom>
            <a:solidFill>
              <a:srgbClr val="675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2" name="空心弧 11"/>
            <p:cNvSpPr/>
            <p:nvPr/>
          </p:nvSpPr>
          <p:spPr>
            <a:xfrm>
              <a:off x="831550" y="1765794"/>
              <a:ext cx="1866406" cy="1866406"/>
            </a:xfrm>
            <a:prstGeom prst="blockArc">
              <a:avLst>
                <a:gd name="adj1" fmla="val 10800000"/>
                <a:gd name="adj2" fmla="val 0"/>
                <a:gd name="adj3" fmla="val 9314"/>
              </a:avLst>
            </a:prstGeom>
            <a:solidFill>
              <a:srgbClr val="1665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1281433" y="2866314"/>
            <a:ext cx="1056178" cy="1136313"/>
            <a:chOff x="1273195" y="2129962"/>
            <a:chExt cx="1056179" cy="1136313"/>
          </a:xfrm>
          <a:solidFill>
            <a:srgbClr val="E08648"/>
          </a:solidFill>
        </p:grpSpPr>
        <p:sp>
          <p:nvSpPr>
            <p:cNvPr id="14" name="椭圆 13"/>
            <p:cNvSpPr>
              <a:spLocks noChangeAspect="1"/>
            </p:cNvSpPr>
            <p:nvPr/>
          </p:nvSpPr>
          <p:spPr>
            <a:xfrm>
              <a:off x="1273195" y="2384972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5" name="椭圆 14"/>
            <p:cNvSpPr>
              <a:spLocks noChangeAspect="1"/>
            </p:cNvSpPr>
            <p:nvPr/>
          </p:nvSpPr>
          <p:spPr>
            <a:xfrm>
              <a:off x="1364868" y="2272290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6" name="椭圆 15"/>
            <p:cNvSpPr>
              <a:spLocks noChangeAspect="1"/>
            </p:cNvSpPr>
            <p:nvPr/>
          </p:nvSpPr>
          <p:spPr>
            <a:xfrm>
              <a:off x="1483544" y="2188520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7" name="椭圆 16"/>
            <p:cNvSpPr>
              <a:spLocks noChangeAspect="1"/>
            </p:cNvSpPr>
            <p:nvPr/>
          </p:nvSpPr>
          <p:spPr>
            <a:xfrm>
              <a:off x="1620419" y="2139875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8" name="椭圆 17"/>
            <p:cNvSpPr>
              <a:spLocks noChangeAspect="1"/>
            </p:cNvSpPr>
            <p:nvPr/>
          </p:nvSpPr>
          <p:spPr>
            <a:xfrm>
              <a:off x="1765343" y="2129962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19" name="椭圆 18"/>
            <p:cNvSpPr>
              <a:spLocks noChangeAspect="1"/>
            </p:cNvSpPr>
            <p:nvPr/>
          </p:nvSpPr>
          <p:spPr>
            <a:xfrm>
              <a:off x="1907567" y="2159516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0" name="椭圆 19"/>
            <p:cNvSpPr>
              <a:spLocks noChangeAspect="1"/>
            </p:cNvSpPr>
            <p:nvPr/>
          </p:nvSpPr>
          <p:spPr>
            <a:xfrm>
              <a:off x="2036544" y="2226347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1" name="椭圆 20"/>
            <p:cNvSpPr>
              <a:spLocks noChangeAspect="1"/>
            </p:cNvSpPr>
            <p:nvPr/>
          </p:nvSpPr>
          <p:spPr>
            <a:xfrm>
              <a:off x="2142707" y="2325496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2" name="椭圆 21"/>
            <p:cNvSpPr>
              <a:spLocks noChangeAspect="1"/>
            </p:cNvSpPr>
            <p:nvPr/>
          </p:nvSpPr>
          <p:spPr>
            <a:xfrm>
              <a:off x="2218183" y="2449611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3" name="椭圆 22"/>
            <p:cNvSpPr>
              <a:spLocks noChangeAspect="1"/>
            </p:cNvSpPr>
            <p:nvPr/>
          </p:nvSpPr>
          <p:spPr>
            <a:xfrm>
              <a:off x="2257374" y="2589487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4" name="椭圆 23"/>
            <p:cNvSpPr>
              <a:spLocks noChangeAspect="1"/>
            </p:cNvSpPr>
            <p:nvPr/>
          </p:nvSpPr>
          <p:spPr>
            <a:xfrm>
              <a:off x="2257374" y="2734749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5" name="椭圆 24"/>
            <p:cNvSpPr>
              <a:spLocks noChangeAspect="1"/>
            </p:cNvSpPr>
            <p:nvPr/>
          </p:nvSpPr>
          <p:spPr>
            <a:xfrm>
              <a:off x="2218183" y="2874625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6" name="椭圆 25"/>
            <p:cNvSpPr>
              <a:spLocks noChangeAspect="1"/>
            </p:cNvSpPr>
            <p:nvPr/>
          </p:nvSpPr>
          <p:spPr>
            <a:xfrm>
              <a:off x="2142707" y="2998741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7" name="椭圆 26"/>
            <p:cNvSpPr>
              <a:spLocks noChangeAspect="1"/>
            </p:cNvSpPr>
            <p:nvPr/>
          </p:nvSpPr>
          <p:spPr>
            <a:xfrm>
              <a:off x="2036544" y="3097890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8" name="椭圆 27"/>
            <p:cNvSpPr>
              <a:spLocks noChangeAspect="1"/>
            </p:cNvSpPr>
            <p:nvPr/>
          </p:nvSpPr>
          <p:spPr>
            <a:xfrm>
              <a:off x="1907567" y="3164720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29" name="椭圆 28"/>
            <p:cNvSpPr>
              <a:spLocks noChangeAspect="1"/>
            </p:cNvSpPr>
            <p:nvPr/>
          </p:nvSpPr>
          <p:spPr>
            <a:xfrm>
              <a:off x="1765343" y="3194275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3322799" y="2866314"/>
            <a:ext cx="708956" cy="1136313"/>
            <a:chOff x="3314564" y="2129962"/>
            <a:chExt cx="708955" cy="1136313"/>
          </a:xfrm>
          <a:solidFill>
            <a:srgbClr val="1C7C5A"/>
          </a:solidFill>
        </p:grpSpPr>
        <p:sp>
          <p:nvSpPr>
            <p:cNvPr id="31" name="椭圆 30"/>
            <p:cNvSpPr>
              <a:spLocks noChangeAspect="1"/>
            </p:cNvSpPr>
            <p:nvPr/>
          </p:nvSpPr>
          <p:spPr>
            <a:xfrm>
              <a:off x="3314564" y="2139875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2" name="椭圆 31"/>
            <p:cNvSpPr>
              <a:spLocks noChangeAspect="1"/>
            </p:cNvSpPr>
            <p:nvPr/>
          </p:nvSpPr>
          <p:spPr>
            <a:xfrm>
              <a:off x="3459488" y="2129962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3" name="椭圆 32"/>
            <p:cNvSpPr>
              <a:spLocks noChangeAspect="1"/>
            </p:cNvSpPr>
            <p:nvPr/>
          </p:nvSpPr>
          <p:spPr>
            <a:xfrm>
              <a:off x="3601712" y="2159516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4" name="椭圆 33"/>
            <p:cNvSpPr>
              <a:spLocks noChangeAspect="1"/>
            </p:cNvSpPr>
            <p:nvPr/>
          </p:nvSpPr>
          <p:spPr>
            <a:xfrm>
              <a:off x="3730689" y="2226347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5" name="椭圆 34"/>
            <p:cNvSpPr>
              <a:spLocks noChangeAspect="1"/>
            </p:cNvSpPr>
            <p:nvPr/>
          </p:nvSpPr>
          <p:spPr>
            <a:xfrm>
              <a:off x="3836852" y="2325496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6" name="椭圆 35"/>
            <p:cNvSpPr>
              <a:spLocks noChangeAspect="1"/>
            </p:cNvSpPr>
            <p:nvPr/>
          </p:nvSpPr>
          <p:spPr>
            <a:xfrm>
              <a:off x="3912328" y="2449611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7" name="椭圆 36"/>
            <p:cNvSpPr>
              <a:spLocks noChangeAspect="1"/>
            </p:cNvSpPr>
            <p:nvPr/>
          </p:nvSpPr>
          <p:spPr>
            <a:xfrm>
              <a:off x="3951519" y="2589487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8" name="椭圆 37"/>
            <p:cNvSpPr>
              <a:spLocks noChangeAspect="1"/>
            </p:cNvSpPr>
            <p:nvPr/>
          </p:nvSpPr>
          <p:spPr>
            <a:xfrm>
              <a:off x="3951519" y="2734749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39" name="椭圆 38"/>
            <p:cNvSpPr>
              <a:spLocks noChangeAspect="1"/>
            </p:cNvSpPr>
            <p:nvPr/>
          </p:nvSpPr>
          <p:spPr>
            <a:xfrm>
              <a:off x="3912328" y="2874625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0" name="椭圆 39"/>
            <p:cNvSpPr>
              <a:spLocks noChangeAspect="1"/>
            </p:cNvSpPr>
            <p:nvPr/>
          </p:nvSpPr>
          <p:spPr>
            <a:xfrm>
              <a:off x="3836852" y="2998741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1" name="椭圆 40"/>
            <p:cNvSpPr>
              <a:spLocks noChangeAspect="1"/>
            </p:cNvSpPr>
            <p:nvPr/>
          </p:nvSpPr>
          <p:spPr>
            <a:xfrm>
              <a:off x="3730689" y="3097890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2" name="椭圆 41"/>
            <p:cNvSpPr>
              <a:spLocks noChangeAspect="1"/>
            </p:cNvSpPr>
            <p:nvPr/>
          </p:nvSpPr>
          <p:spPr>
            <a:xfrm>
              <a:off x="3601712" y="3164720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3" name="椭圆 42"/>
            <p:cNvSpPr>
              <a:spLocks noChangeAspect="1"/>
            </p:cNvSpPr>
            <p:nvPr/>
          </p:nvSpPr>
          <p:spPr>
            <a:xfrm>
              <a:off x="3459488" y="3194275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4" name="椭圆 43"/>
            <p:cNvSpPr>
              <a:spLocks noChangeAspect="1"/>
            </p:cNvSpPr>
            <p:nvPr/>
          </p:nvSpPr>
          <p:spPr>
            <a:xfrm>
              <a:off x="3314564" y="3184362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45" name="组合 44"/>
          <p:cNvGrpSpPr/>
          <p:nvPr/>
        </p:nvGrpSpPr>
        <p:grpSpPr>
          <a:xfrm>
            <a:off x="5160047" y="2866315"/>
            <a:ext cx="564031" cy="1106758"/>
            <a:chOff x="5151809" y="2129962"/>
            <a:chExt cx="564031" cy="1106758"/>
          </a:xfrm>
          <a:solidFill>
            <a:srgbClr val="675E8C"/>
          </a:solidFill>
        </p:grpSpPr>
        <p:sp>
          <p:nvSpPr>
            <p:cNvPr id="46" name="椭圆 45"/>
            <p:cNvSpPr>
              <a:spLocks noChangeAspect="1"/>
            </p:cNvSpPr>
            <p:nvPr/>
          </p:nvSpPr>
          <p:spPr>
            <a:xfrm>
              <a:off x="5151809" y="2129962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7" name="椭圆 46"/>
            <p:cNvSpPr>
              <a:spLocks noChangeAspect="1"/>
            </p:cNvSpPr>
            <p:nvPr/>
          </p:nvSpPr>
          <p:spPr>
            <a:xfrm>
              <a:off x="5294033" y="2159516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8" name="椭圆 47"/>
            <p:cNvSpPr>
              <a:spLocks noChangeAspect="1"/>
            </p:cNvSpPr>
            <p:nvPr/>
          </p:nvSpPr>
          <p:spPr>
            <a:xfrm>
              <a:off x="5423010" y="2226347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49" name="椭圆 48"/>
            <p:cNvSpPr>
              <a:spLocks noChangeAspect="1"/>
            </p:cNvSpPr>
            <p:nvPr/>
          </p:nvSpPr>
          <p:spPr>
            <a:xfrm>
              <a:off x="5529173" y="2325496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0" name="椭圆 49"/>
            <p:cNvSpPr>
              <a:spLocks noChangeAspect="1"/>
            </p:cNvSpPr>
            <p:nvPr/>
          </p:nvSpPr>
          <p:spPr>
            <a:xfrm>
              <a:off x="5604649" y="2449611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1" name="椭圆 50"/>
            <p:cNvSpPr>
              <a:spLocks noChangeAspect="1"/>
            </p:cNvSpPr>
            <p:nvPr/>
          </p:nvSpPr>
          <p:spPr>
            <a:xfrm>
              <a:off x="5643840" y="2589487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2" name="椭圆 51"/>
            <p:cNvSpPr>
              <a:spLocks noChangeAspect="1"/>
            </p:cNvSpPr>
            <p:nvPr/>
          </p:nvSpPr>
          <p:spPr>
            <a:xfrm>
              <a:off x="5643840" y="2734749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3" name="椭圆 52"/>
            <p:cNvSpPr>
              <a:spLocks noChangeAspect="1"/>
            </p:cNvSpPr>
            <p:nvPr/>
          </p:nvSpPr>
          <p:spPr>
            <a:xfrm>
              <a:off x="5604649" y="2874625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4" name="椭圆 53"/>
            <p:cNvSpPr>
              <a:spLocks noChangeAspect="1"/>
            </p:cNvSpPr>
            <p:nvPr/>
          </p:nvSpPr>
          <p:spPr>
            <a:xfrm>
              <a:off x="5529173" y="2998741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5" name="椭圆 54"/>
            <p:cNvSpPr>
              <a:spLocks noChangeAspect="1"/>
            </p:cNvSpPr>
            <p:nvPr/>
          </p:nvSpPr>
          <p:spPr>
            <a:xfrm>
              <a:off x="5423010" y="3097890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6" name="椭圆 55"/>
            <p:cNvSpPr>
              <a:spLocks noChangeAspect="1"/>
            </p:cNvSpPr>
            <p:nvPr/>
          </p:nvSpPr>
          <p:spPr>
            <a:xfrm>
              <a:off x="5294033" y="3164720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6578533" y="2866314"/>
            <a:ext cx="845830" cy="676787"/>
            <a:chOff x="6570296" y="2129962"/>
            <a:chExt cx="845830" cy="676787"/>
          </a:xfrm>
          <a:solidFill>
            <a:srgbClr val="E36C64"/>
          </a:solidFill>
        </p:grpSpPr>
        <p:sp>
          <p:nvSpPr>
            <p:cNvPr id="58" name="椭圆 57"/>
            <p:cNvSpPr>
              <a:spLocks noChangeAspect="1"/>
            </p:cNvSpPr>
            <p:nvPr/>
          </p:nvSpPr>
          <p:spPr>
            <a:xfrm>
              <a:off x="6570296" y="2188520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59" name="椭圆 58"/>
            <p:cNvSpPr>
              <a:spLocks noChangeAspect="1"/>
            </p:cNvSpPr>
            <p:nvPr/>
          </p:nvSpPr>
          <p:spPr>
            <a:xfrm>
              <a:off x="6707171" y="2139875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0" name="椭圆 59"/>
            <p:cNvSpPr>
              <a:spLocks noChangeAspect="1"/>
            </p:cNvSpPr>
            <p:nvPr/>
          </p:nvSpPr>
          <p:spPr>
            <a:xfrm>
              <a:off x="6852095" y="2129962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1" name="椭圆 60"/>
            <p:cNvSpPr>
              <a:spLocks noChangeAspect="1"/>
            </p:cNvSpPr>
            <p:nvPr/>
          </p:nvSpPr>
          <p:spPr>
            <a:xfrm>
              <a:off x="6994319" y="2159516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2" name="椭圆 61"/>
            <p:cNvSpPr>
              <a:spLocks noChangeAspect="1"/>
            </p:cNvSpPr>
            <p:nvPr/>
          </p:nvSpPr>
          <p:spPr>
            <a:xfrm>
              <a:off x="7123296" y="2226347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3" name="椭圆 62"/>
            <p:cNvSpPr>
              <a:spLocks noChangeAspect="1"/>
            </p:cNvSpPr>
            <p:nvPr/>
          </p:nvSpPr>
          <p:spPr>
            <a:xfrm>
              <a:off x="7229459" y="2325496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4" name="椭圆 63"/>
            <p:cNvSpPr>
              <a:spLocks noChangeAspect="1"/>
            </p:cNvSpPr>
            <p:nvPr/>
          </p:nvSpPr>
          <p:spPr>
            <a:xfrm>
              <a:off x="7304935" y="2449611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5" name="椭圆 64"/>
            <p:cNvSpPr>
              <a:spLocks noChangeAspect="1"/>
            </p:cNvSpPr>
            <p:nvPr/>
          </p:nvSpPr>
          <p:spPr>
            <a:xfrm>
              <a:off x="7344126" y="2589487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6" name="椭圆 65"/>
            <p:cNvSpPr>
              <a:spLocks noChangeAspect="1"/>
            </p:cNvSpPr>
            <p:nvPr/>
          </p:nvSpPr>
          <p:spPr>
            <a:xfrm>
              <a:off x="7344126" y="2734749"/>
              <a:ext cx="72000" cy="72000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sp>
        <p:nvSpPr>
          <p:cNvPr id="21519" name="文本框 66"/>
          <p:cNvSpPr txBox="1"/>
          <p:nvPr/>
        </p:nvSpPr>
        <p:spPr>
          <a:xfrm>
            <a:off x="1352868" y="3082608"/>
            <a:ext cx="940435" cy="73723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en-US" altLang="en-US" sz="2400" dirty="0">
                <a:solidFill>
                  <a:srgbClr val="E08648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26.5%</a:t>
            </a:r>
            <a:endParaRPr lang="en-US" altLang="en-US" sz="2400" dirty="0">
              <a:solidFill>
                <a:srgbClr val="E08648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algn="l"/>
            <a:r>
              <a:rPr lang="en-US" altLang="en-US" sz="900" b="1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customers</a:t>
            </a:r>
            <a:endParaRPr lang="en-US" altLang="en-US" sz="900" b="1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algn="l"/>
            <a:r>
              <a:rPr lang="en-US" altLang="en-US" sz="900" b="1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churned</a:t>
            </a:r>
            <a:endParaRPr lang="en-US" altLang="en-US" sz="900" b="1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21520" name="文本框 67"/>
          <p:cNvSpPr txBox="1"/>
          <p:nvPr/>
        </p:nvSpPr>
        <p:spPr>
          <a:xfrm>
            <a:off x="3057525" y="3019743"/>
            <a:ext cx="745490" cy="95313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r>
              <a:rPr lang="en-IN" altLang="en-US" sz="2400" dirty="0">
                <a:solidFill>
                  <a:srgbClr val="1C7C5A"/>
                </a:solidFill>
                <a:latin typeface="Calibri" panose="020F0502020204030204" pitchFamily="34" charset="0"/>
                <a:ea typeface="Microsoft YaHei Light" panose="020B0502040204020203" pitchFamily="34" charset="-122"/>
              </a:rPr>
              <a:t>5</a:t>
            </a:r>
            <a:r>
              <a:rPr lang="en-US" altLang="zh-CN" sz="2400" dirty="0">
                <a:solidFill>
                  <a:srgbClr val="1C7C5A"/>
                </a:solidFill>
                <a:latin typeface="Calibri" panose="020F0502020204030204" pitchFamily="34" charset="0"/>
                <a:ea typeface="Microsoft YaHei Light" panose="020B0502040204020203" pitchFamily="34" charset="-122"/>
              </a:rPr>
              <a:t>0</a:t>
            </a:r>
            <a:r>
              <a:rPr lang="en-US" altLang="zh-CN" sz="2800" dirty="0">
                <a:solidFill>
                  <a:srgbClr val="1C7C5A"/>
                </a:solidFill>
                <a:latin typeface="Calibri" panose="020F0502020204030204" pitchFamily="34" charset="0"/>
                <a:ea typeface="Microsoft YaHei Light" panose="020B0502040204020203" pitchFamily="34" charset="-122"/>
              </a:rPr>
              <a:t>%</a:t>
            </a:r>
            <a:endParaRPr lang="en-US" altLang="zh-CN" sz="2800" dirty="0">
              <a:solidFill>
                <a:srgbClr val="1C7C5A"/>
              </a:solidFill>
              <a:latin typeface="Calibri" panose="020F0502020204030204" pitchFamily="34" charset="0"/>
              <a:ea typeface="Microsoft YaHei Light" panose="020B0502040204020203" pitchFamily="34" charset="-122"/>
            </a:endParaRPr>
          </a:p>
          <a:p>
            <a:r>
              <a:rPr lang="en-IN" altLang="zh-CN" sz="2800" b="1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F</a:t>
            </a:r>
            <a:endParaRPr lang="en-IN" altLang="zh-CN" sz="2800" b="1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21521" name="文本框 68"/>
          <p:cNvSpPr txBox="1"/>
          <p:nvPr/>
        </p:nvSpPr>
        <p:spPr>
          <a:xfrm>
            <a:off x="4758055" y="3061653"/>
            <a:ext cx="745490" cy="95313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l"/>
            <a:r>
              <a:rPr lang="en-US" altLang="zh-CN" sz="2400" dirty="0">
                <a:solidFill>
                  <a:srgbClr val="675E8C"/>
                </a:solidFill>
                <a:latin typeface="Calibri" panose="020F0502020204030204" pitchFamily="34" charset="0"/>
                <a:ea typeface="Microsoft YaHei Light" panose="020B0502040204020203" pitchFamily="34" charset="-122"/>
              </a:rPr>
              <a:t>50</a:t>
            </a:r>
            <a:r>
              <a:rPr lang="en-US" altLang="zh-CN" sz="2800" dirty="0">
                <a:solidFill>
                  <a:srgbClr val="675E8C"/>
                </a:solidFill>
                <a:latin typeface="Calibri" panose="020F0502020204030204" pitchFamily="34" charset="0"/>
                <a:ea typeface="Microsoft YaHei Light" panose="020B0502040204020203" pitchFamily="34" charset="-122"/>
              </a:rPr>
              <a:t>%</a:t>
            </a:r>
            <a:endParaRPr lang="en-US" altLang="zh-CN" sz="2800" dirty="0">
              <a:solidFill>
                <a:srgbClr val="675E8C"/>
              </a:solidFill>
              <a:latin typeface="Calibri" panose="020F0502020204030204" pitchFamily="34" charset="0"/>
              <a:ea typeface="Microsoft YaHei Light" panose="020B0502040204020203" pitchFamily="34" charset="-122"/>
            </a:endParaRPr>
          </a:p>
          <a:p>
            <a:pPr algn="l"/>
            <a:r>
              <a:rPr lang="en-IN" altLang="zh-CN" sz="2800" dirty="0">
                <a:solidFill>
                  <a:srgbClr val="675E8C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 </a:t>
            </a:r>
            <a:r>
              <a:rPr lang="en-IN" altLang="zh-CN" sz="2800" b="1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M</a:t>
            </a:r>
            <a:endParaRPr lang="en-IN" altLang="zh-CN" sz="2800" b="1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21522" name="文本框 69"/>
          <p:cNvSpPr txBox="1"/>
          <p:nvPr/>
        </p:nvSpPr>
        <p:spPr>
          <a:xfrm>
            <a:off x="6410325" y="3080385"/>
            <a:ext cx="974725" cy="99568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noAutofit/>
          </a:bodyPr>
          <a:p>
            <a:r>
              <a:rPr lang="en-US" altLang="zh-CN" sz="2800" dirty="0">
                <a:solidFill>
                  <a:srgbClr val="E36C64"/>
                </a:solidFill>
                <a:latin typeface="Calibri" panose="020F0502020204030204" pitchFamily="34" charset="0"/>
                <a:ea typeface="Microsoft YaHei Light" panose="020B0502040204020203" pitchFamily="34" charset="-122"/>
              </a:rPr>
              <a:t>40%</a:t>
            </a:r>
            <a:r>
              <a:rPr lang="en-IN" altLang="en-US" sz="2800" dirty="0">
                <a:solidFill>
                  <a:srgbClr val="E36C64"/>
                </a:solidFill>
                <a:latin typeface="Calibri" panose="020F0502020204030204" pitchFamily="34" charset="0"/>
                <a:ea typeface="Microsoft YaHei Light" panose="020B0502040204020203" pitchFamily="34" charset="-122"/>
              </a:rPr>
              <a:t>+</a:t>
            </a:r>
            <a:endParaRPr lang="en-IN" altLang="en-US" sz="2800" dirty="0">
              <a:solidFill>
                <a:srgbClr val="E36C64"/>
              </a:solidFill>
              <a:latin typeface="Calibri" panose="020F0502020204030204" pitchFamily="34" charset="0"/>
              <a:ea typeface="Microsoft YaHei Light" panose="020B0502040204020203" pitchFamily="34" charset="-122"/>
            </a:endParaRPr>
          </a:p>
          <a:p>
            <a:r>
              <a:rPr lang="en-IN" altLang="en-US" sz="900" b="1" dirty="0">
                <a:solidFill>
                  <a:schemeClr val="bg1"/>
                </a:solidFill>
                <a:latin typeface="Calibri" panose="020F0502020204030204" pitchFamily="34" charset="0"/>
                <a:ea typeface="Microsoft YaHei Light" panose="020B0502040204020203" pitchFamily="34" charset="-122"/>
              </a:rPr>
              <a:t>electronic payment</a:t>
            </a:r>
            <a:endParaRPr lang="en-IN" altLang="en-US" sz="900" b="1" dirty="0">
              <a:solidFill>
                <a:schemeClr val="bg1"/>
              </a:solidFill>
              <a:latin typeface="Calibri" panose="020F0502020204030204" pitchFamily="34" charset="0"/>
              <a:ea typeface="Microsoft YaHei Light" panose="020B0502040204020203" pitchFamily="34" charset="-122"/>
            </a:endParaRPr>
          </a:p>
        </p:txBody>
      </p:sp>
      <p:sp>
        <p:nvSpPr>
          <p:cNvPr id="21523" name="矩形 70"/>
          <p:cNvSpPr/>
          <p:nvPr/>
        </p:nvSpPr>
        <p:spPr>
          <a:xfrm>
            <a:off x="8395970" y="1844675"/>
            <a:ext cx="2957830" cy="501269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High churn observed in month-to-month contracts, indicating lack of long-term commitment</a:t>
            </a:r>
            <a:r>
              <a:rPr lang="en-IN" altLang="en-US" sz="1400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.</a:t>
            </a:r>
            <a:endParaRPr lang="en-IN" altLang="en-US" sz="1400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</a:pPr>
            <a:endParaRPr lang="en-IN" altLang="en-US" sz="1400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Customers with shorter tenure (0–1 year) are more likely to churn, showing early-stage risk</a:t>
            </a:r>
            <a:r>
              <a:rPr lang="en-IN" altLang="en-US" sz="1400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.</a:t>
            </a:r>
            <a:endParaRPr lang="en-IN" altLang="en-US" sz="1400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</a:pPr>
            <a:endParaRPr lang="en-US" altLang="en-US" sz="1400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Higher monthly charges are associated with increased churn, suggesting pricing sensitivity</a:t>
            </a:r>
            <a:r>
              <a:rPr lang="en-IN" altLang="en-US" sz="1400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.</a:t>
            </a:r>
            <a:endParaRPr lang="en-IN" altLang="en-US" sz="1400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</a:pPr>
            <a:endParaRPr lang="en-US" altLang="en-US" sz="1400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Customers without tech support show significantly higher churn, highlighting service gaps</a:t>
            </a:r>
            <a:r>
              <a:rPr lang="en-IN" altLang="en-US" sz="1400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.</a:t>
            </a:r>
            <a:endParaRPr lang="en-IN" altLang="en-US" sz="1400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</a:pPr>
            <a:endParaRPr lang="en-US" altLang="en-US" sz="1400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Fiber optic users show higher churn compared to other services, indicating possible dissatisfaction</a:t>
            </a:r>
            <a:r>
              <a:rPr lang="en-IN" altLang="en-US" sz="1400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.</a:t>
            </a:r>
            <a:endParaRPr lang="en-IN" altLang="en-US" sz="1400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algn="just">
              <a:buFont typeface="Arial" panose="020B0604020202020204" pitchFamily="34" charset="0"/>
            </a:pPr>
            <a:endParaRPr lang="en-US" altLang="en-US" sz="1400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400" dirty="0">
                <a:solidFill>
                  <a:schemeClr val="bg1"/>
                </a:solidFill>
                <a:latin typeface="Calibri" panose="020F0502020204030204" pitchFamily="34" charset="0"/>
                <a:ea typeface="Arial" panose="020B0604020202020204" pitchFamily="34" charset="0"/>
              </a:rPr>
              <a:t>Electronic check users tend to churn more, suggesting payment behavior impact</a:t>
            </a:r>
            <a:endParaRPr lang="en-US" altLang="en-US" sz="1400" dirty="0">
              <a:solidFill>
                <a:schemeClr val="bg1"/>
              </a:solidFill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sp>
        <p:nvSpPr>
          <p:cNvPr id="21531" name="矩形 78"/>
          <p:cNvSpPr/>
          <p:nvPr/>
        </p:nvSpPr>
        <p:spPr>
          <a:xfrm>
            <a:off x="852488" y="4743450"/>
            <a:ext cx="6934200" cy="583565"/>
          </a:xfrm>
          <a:prstGeom prst="rect">
            <a:avLst/>
          </a:prstGeom>
          <a:noFill/>
          <a:ln w="9525">
            <a:solidFill>
              <a:schemeClr val="bg1"/>
            </a:solidFill>
          </a:ln>
        </p:spPr>
        <p:txBody>
          <a:bodyPr anchor="t" anchorCtr="0">
            <a:spAutoFit/>
          </a:bodyPr>
          <a:p>
            <a:pPr algn="just"/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👉 </a:t>
            </a:r>
            <a:r>
              <a:rPr lang="en-IN" altLang="zh-CN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 </a:t>
            </a:r>
            <a:r>
              <a:rPr lang="zh-CN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“</a:t>
            </a:r>
            <a:r>
              <a:rPr lang="en-US" altLang="en-U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Churn is primarily driven by contract type, tenure, pricing, and service quality.”</a:t>
            </a:r>
            <a:endParaRPr lang="en-US" altLang="en-US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838200" y="180340"/>
            <a:ext cx="10515600" cy="667385"/>
          </a:xfrm>
          <a:ln>
            <a:solidFill>
              <a:schemeClr val="bg1"/>
            </a:solidFill>
          </a:ln>
        </p:spPr>
        <p:txBody>
          <a:bodyPr/>
          <a:p>
            <a:r>
              <a:rPr lang="en-US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Power BI Dashboard</a:t>
            </a:r>
            <a:endParaRPr lang="en-US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8" name="Picture 67" descr="Screenshot (110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210" y="942975"/>
            <a:ext cx="11806555" cy="479425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9" name="Text Box 68"/>
          <p:cNvSpPr txBox="1"/>
          <p:nvPr/>
        </p:nvSpPr>
        <p:spPr>
          <a:xfrm>
            <a:off x="156210" y="5966460"/>
            <a:ext cx="11807190" cy="39878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p>
            <a:r>
              <a:rPr lang="en-US" altLang="en-US" sz="20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“The dashboard enables quick identification of churn drivers and supports data-driven decision making.”</a:t>
            </a:r>
            <a:endParaRPr lang="en-US" altLang="en-US" sz="20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/>
          <p:nvPr>
            <p:ph type="title"/>
          </p:nvPr>
        </p:nvSpPr>
        <p:spPr>
          <a:xfrm>
            <a:off x="838200" y="180340"/>
            <a:ext cx="10515600" cy="667385"/>
          </a:xfrm>
          <a:ln>
            <a:solidFill>
              <a:schemeClr val="bg1"/>
            </a:solidFill>
          </a:ln>
        </p:spPr>
        <p:txBody>
          <a:bodyPr/>
          <a:p>
            <a:r>
              <a:rPr lang="en-US" altLang="en-US">
                <a:sym typeface="+mn-ea"/>
              </a:rPr>
              <a:t>Interactive Dashboard Overview</a:t>
            </a:r>
            <a:r>
              <a:rPr lang="en-IN" altLang="en-US">
                <a:sym typeface="+mn-ea"/>
              </a:rPr>
              <a:t> :-</a:t>
            </a:r>
            <a:endParaRPr lang="en-I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+mn-ea"/>
            </a:endParaRPr>
          </a:p>
        </p:txBody>
      </p:sp>
      <p:sp>
        <p:nvSpPr>
          <p:cNvPr id="70" name="Text Box 69"/>
          <p:cNvSpPr txBox="1"/>
          <p:nvPr/>
        </p:nvSpPr>
        <p:spPr>
          <a:xfrm>
            <a:off x="2408873" y="1151890"/>
            <a:ext cx="7374255" cy="55219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txBody>
          <a:bodyPr wrap="square" rtlCol="0">
            <a:noAutofit/>
          </a:bodyPr>
          <a:p>
            <a:pPr algn="just"/>
            <a:r>
              <a:rPr lang="en-US" altLang="en-US" sz="1800" b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Developed an interactive Power BI dashboard to analyze customer churn</a:t>
            </a:r>
            <a:endParaRPr lang="en-US" altLang="en-US" sz="1800" b="1" u="sng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 b="1">
                <a:solidFill>
                  <a:schemeClr val="bg1"/>
                </a:solidFill>
              </a:rPr>
              <a:t>Included key KPIs such as:</a:t>
            </a:r>
            <a:endParaRPr lang="en-US" altLang="en-US" sz="1800" b="1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tx1"/>
                </a:solidFill>
              </a:rPr>
              <a:t>Total Customers</a:t>
            </a:r>
            <a:endParaRPr lang="en-US" altLang="en-US" sz="1800" b="1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tx1"/>
                </a:solidFill>
              </a:rPr>
              <a:t>Churned Customers</a:t>
            </a:r>
            <a:endParaRPr lang="en-US" altLang="en-US" sz="1800" b="1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tx1"/>
                </a:solidFill>
              </a:rPr>
              <a:t>Churn Rate (%)</a:t>
            </a:r>
            <a:endParaRPr lang="en-US" altLang="en-US" sz="1800" b="1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tx1"/>
                </a:solidFill>
              </a:rPr>
              <a:t>Avg Monthly Charges</a:t>
            </a:r>
            <a:endParaRPr lang="en-US" altLang="en-US" sz="1800" b="1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tx1"/>
                </a:solidFill>
              </a:rPr>
              <a:t>Avg Tenure</a:t>
            </a:r>
            <a:endParaRPr lang="en-US" altLang="en-US" sz="1800" b="1">
              <a:solidFill>
                <a:schemeClr val="tx1"/>
              </a:solidFill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altLang="en-US"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Used pastel color theme for clean and professional visualization</a:t>
            </a:r>
            <a:endParaRPr lang="en-US" altLang="en-US" sz="18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en-US" altLang="en-US"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Implemented slicers (filters) for:</a:t>
            </a:r>
            <a:endParaRPr lang="en-US" altLang="en-US" sz="180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tx1"/>
                </a:solidFill>
              </a:rPr>
              <a:t>Contract</a:t>
            </a:r>
            <a:endParaRPr lang="en-US" altLang="en-US" sz="1800" b="1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tx1"/>
                </a:solidFill>
              </a:rPr>
              <a:t>Gender</a:t>
            </a:r>
            <a:endParaRPr lang="en-US" altLang="en-US" sz="1800" b="1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tx1"/>
                </a:solidFill>
              </a:rPr>
              <a:t>Internet Service</a:t>
            </a:r>
            <a:endParaRPr lang="en-US" altLang="en-US" sz="1800" b="1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IN" altLang="en-US" sz="1800" b="1">
                <a:solidFill>
                  <a:schemeClr val="tx1"/>
                </a:solidFill>
              </a:rPr>
              <a:t>Payment Method</a:t>
            </a:r>
            <a:endParaRPr lang="en-US" altLang="en-US" sz="1800" b="1">
              <a:solidFill>
                <a:schemeClr val="tx1"/>
              </a:solidFill>
            </a:endParaRPr>
          </a:p>
          <a:p>
            <a:pPr algn="just"/>
            <a:r>
              <a:rPr lang="en-US" altLang="en-US" sz="18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Visualized churn patterns using:</a:t>
            </a:r>
            <a:endParaRPr lang="en-US" altLang="en-US" sz="1800" b="1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tx1"/>
                </a:solidFill>
              </a:rPr>
              <a:t>Contract Type</a:t>
            </a:r>
            <a:endParaRPr lang="en-US" altLang="en-US" sz="1800" b="1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tx1"/>
                </a:solidFill>
              </a:rPr>
              <a:t>Tenure Group</a:t>
            </a:r>
            <a:endParaRPr lang="en-US" altLang="en-US" sz="1800" b="1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tx1"/>
                </a:solidFill>
              </a:rPr>
              <a:t>Payment Method</a:t>
            </a:r>
            <a:endParaRPr lang="en-US" altLang="en-US" sz="1800" b="1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tx1"/>
                </a:solidFill>
              </a:rPr>
              <a:t>Tech Support</a:t>
            </a:r>
            <a:endParaRPr lang="en-US" altLang="en-US" sz="1800" b="1">
              <a:solidFill>
                <a:schemeClr val="tx1"/>
              </a:solidFill>
            </a:endParaRPr>
          </a:p>
          <a:p>
            <a:pPr marL="285750" indent="-285750" algn="just">
              <a:buFont typeface="Wingdings" panose="05000000000000000000" charset="0"/>
              <a:buChar char="Ø"/>
            </a:pPr>
            <a:r>
              <a:rPr lang="en-US" altLang="en-US" sz="1800" b="1">
                <a:solidFill>
                  <a:schemeClr val="tx1"/>
                </a:solidFill>
              </a:rPr>
              <a:t>Internet Service</a:t>
            </a:r>
            <a:endParaRPr lang="en-US" altLang="en-US" sz="1800" b="1">
              <a:solidFill>
                <a:schemeClr val="tx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6430"/>
          </a:xfrm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Business Recommendations</a:t>
            </a:r>
            <a:endParaRPr kumimoji="0" lang="en-US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1367790" y="1120140"/>
            <a:ext cx="2520950" cy="2190750"/>
          </a:xfrm>
          <a:prstGeom prst="rect">
            <a:avLst/>
          </a:prstGeom>
          <a:solidFill>
            <a:srgbClr val="1665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4184650" y="1120140"/>
            <a:ext cx="2520950" cy="2190115"/>
          </a:xfrm>
          <a:prstGeom prst="rect">
            <a:avLst/>
          </a:prstGeom>
          <a:solidFill>
            <a:srgbClr val="E0864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879590" y="1120775"/>
            <a:ext cx="2520950" cy="2190115"/>
          </a:xfrm>
          <a:prstGeom prst="rect">
            <a:avLst/>
          </a:prstGeom>
          <a:solidFill>
            <a:srgbClr val="675E8C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" name="矩形 2"/>
          <p:cNvSpPr/>
          <p:nvPr/>
        </p:nvSpPr>
        <p:spPr>
          <a:xfrm>
            <a:off x="4191000" y="3527425"/>
            <a:ext cx="2520950" cy="2266315"/>
          </a:xfrm>
          <a:prstGeom prst="rect">
            <a:avLst/>
          </a:prstGeom>
          <a:solidFill>
            <a:srgbClr val="8103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矩形 2"/>
          <p:cNvSpPr/>
          <p:nvPr/>
        </p:nvSpPr>
        <p:spPr>
          <a:xfrm>
            <a:off x="6880225" y="3527425"/>
            <a:ext cx="2520950" cy="226631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矩形 2"/>
          <p:cNvSpPr/>
          <p:nvPr/>
        </p:nvSpPr>
        <p:spPr>
          <a:xfrm>
            <a:off x="1353820" y="3526790"/>
            <a:ext cx="2520950" cy="2266950"/>
          </a:xfrm>
          <a:prstGeom prst="rect">
            <a:avLst/>
          </a:prstGeom>
          <a:solidFill>
            <a:srgbClr val="E36C6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26" name="Picture 25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5970" y="2661920"/>
            <a:ext cx="687070" cy="565785"/>
          </a:xfrm>
          <a:prstGeom prst="rect">
            <a:avLst/>
          </a:prstGeom>
        </p:spPr>
      </p:pic>
      <p:pic>
        <p:nvPicPr>
          <p:cNvPr id="34" name="Picture 33" descr="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4240" y="2705100"/>
            <a:ext cx="725805" cy="522605"/>
          </a:xfrm>
          <a:prstGeom prst="rect">
            <a:avLst/>
          </a:prstGeom>
        </p:spPr>
      </p:pic>
      <p:pic>
        <p:nvPicPr>
          <p:cNvPr id="35" name="Picture 34" descr="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430" y="5132070"/>
            <a:ext cx="652145" cy="546735"/>
          </a:xfrm>
          <a:prstGeom prst="rect">
            <a:avLst/>
          </a:prstGeom>
        </p:spPr>
      </p:pic>
      <p:pic>
        <p:nvPicPr>
          <p:cNvPr id="36" name="Picture 35" descr="Promote Long-Term Contrac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78545" y="5109210"/>
            <a:ext cx="571500" cy="529590"/>
          </a:xfrm>
          <a:prstGeom prst="rect">
            <a:avLst/>
          </a:prstGeom>
        </p:spPr>
      </p:pic>
      <p:pic>
        <p:nvPicPr>
          <p:cNvPr id="37" name="Picture 36" descr="🔒.2"/>
          <p:cNvPicPr>
            <a:picLocks noChangeAspect="1"/>
          </p:cNvPicPr>
          <p:nvPr/>
        </p:nvPicPr>
        <p:blipFill>
          <a:blip r:embed="rId5">
            <a:lum contrast="6000"/>
          </a:blip>
          <a:stretch>
            <a:fillRect/>
          </a:stretch>
        </p:blipFill>
        <p:spPr>
          <a:xfrm>
            <a:off x="3059430" y="2705100"/>
            <a:ext cx="681990" cy="522605"/>
          </a:xfrm>
          <a:prstGeom prst="rect">
            <a:avLst/>
          </a:prstGeom>
        </p:spPr>
      </p:pic>
      <p:sp>
        <p:nvSpPr>
          <p:cNvPr id="38" name="Text Box 37"/>
          <p:cNvSpPr txBox="1"/>
          <p:nvPr/>
        </p:nvSpPr>
        <p:spPr>
          <a:xfrm>
            <a:off x="1367790" y="1120140"/>
            <a:ext cx="2506980" cy="21907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no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600" b="1" u="sng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Promote Long-Term Contracts</a:t>
            </a:r>
            <a:r>
              <a:rPr lang="en-IN" altLang="en-US" sz="1600" b="1" u="sng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altLang="en-US" sz="1600" b="1" u="sng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>
              <a:buFont typeface="Wingdings" panose="05000000000000000000" charset="0"/>
            </a:pPr>
            <a:r>
              <a:rPr lang="en-US" altLang="en-US" sz="1600" b="1">
                <a:solidFill>
                  <a:schemeClr val="bg1"/>
                </a:solidFill>
              </a:rPr>
              <a:t>Offer discounts or incentives for yearly and multi-year plans to reduce churn from month-to-month customers</a:t>
            </a:r>
            <a:r>
              <a:rPr lang="en-IN" altLang="en-US" sz="1600" b="1">
                <a:solidFill>
                  <a:schemeClr val="bg1"/>
                </a:solidFill>
              </a:rPr>
              <a:t>.</a:t>
            </a:r>
            <a:endParaRPr lang="en-IN" altLang="en-US" sz="1600" b="1">
              <a:solidFill>
                <a:schemeClr val="bg1"/>
              </a:solidFill>
            </a:endParaRPr>
          </a:p>
        </p:txBody>
      </p:sp>
      <p:sp>
        <p:nvSpPr>
          <p:cNvPr id="39" name="Text Box 38"/>
          <p:cNvSpPr txBox="1"/>
          <p:nvPr/>
        </p:nvSpPr>
        <p:spPr>
          <a:xfrm>
            <a:off x="4187190" y="1120140"/>
            <a:ext cx="2515235" cy="21907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no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600" b="1" u="sng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anose="020F0502020204030204" pitchFamily="34" charset="0"/>
              </a:rPr>
              <a:t>Strengthen Early Customer Engagement</a:t>
            </a:r>
            <a:r>
              <a:rPr lang="en-IN" altLang="en-US" sz="1600" b="1" u="sng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Calibri" panose="020F0502020204030204" pitchFamily="34" charset="0"/>
              </a:rPr>
              <a:t> :</a:t>
            </a:r>
            <a:endParaRPr lang="en-US" altLang="en-US" sz="1600" b="1" u="sng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Calibri" panose="020F0502020204030204" pitchFamily="34" charset="0"/>
            </a:endParaRPr>
          </a:p>
          <a:p>
            <a:pPr algn="l"/>
            <a:r>
              <a:rPr lang="en-US" altLang="en-US" sz="1600" b="1">
                <a:solidFill>
                  <a:schemeClr val="bg1"/>
                </a:solidFill>
                <a:cs typeface="Calibri" panose="020F0502020204030204" pitchFamily="34" charset="0"/>
              </a:rPr>
              <a:t>Focus on customers in the first year with onboarding support, personalized communication, and offers</a:t>
            </a:r>
            <a:r>
              <a:rPr lang="en-IN" altLang="en-US" sz="1600" b="1">
                <a:solidFill>
                  <a:schemeClr val="bg1"/>
                </a:solidFill>
                <a:cs typeface="Calibri" panose="020F0502020204030204" pitchFamily="34" charset="0"/>
              </a:rPr>
              <a:t>.</a:t>
            </a:r>
            <a:endParaRPr lang="en-IN" altLang="en-US" sz="1600" b="1">
              <a:solidFill>
                <a:schemeClr val="bg1"/>
              </a:solidFill>
              <a:cs typeface="Calibri" panose="020F0502020204030204" pitchFamily="34" charset="0"/>
            </a:endParaRPr>
          </a:p>
        </p:txBody>
      </p:sp>
      <p:sp>
        <p:nvSpPr>
          <p:cNvPr id="40" name="Text Box 39"/>
          <p:cNvSpPr txBox="1"/>
          <p:nvPr/>
        </p:nvSpPr>
        <p:spPr>
          <a:xfrm>
            <a:off x="6880225" y="1146175"/>
            <a:ext cx="2520315" cy="15589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en-US" sz="16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Optimize Pricing Strategy</a:t>
            </a:r>
            <a:r>
              <a:rPr lang="en-IN" altLang="en-US" sz="16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</a:t>
            </a:r>
            <a:endParaRPr lang="en-US" altLang="en-US" sz="16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l"/>
            <a:r>
              <a:rPr lang="en-US" altLang="en-US" sz="1600" b="1">
                <a:solidFill>
                  <a:schemeClr val="bg1"/>
                </a:solidFill>
              </a:rPr>
              <a:t>Review high monthly charges and provide flexible pricing or bundled offers to reduce price-sensitive churn</a:t>
            </a:r>
            <a:r>
              <a:rPr lang="en-IN" altLang="en-US" sz="1600" b="1">
                <a:solidFill>
                  <a:schemeClr val="bg1"/>
                </a:solidFill>
              </a:rPr>
              <a:t>.</a:t>
            </a:r>
            <a:endParaRPr lang="en-IN" altLang="en-US" sz="1600" b="1">
              <a:solidFill>
                <a:schemeClr val="bg1"/>
              </a:solidFill>
            </a:endParaRPr>
          </a:p>
        </p:txBody>
      </p:sp>
      <p:pic>
        <p:nvPicPr>
          <p:cNvPr id="42" name="Picture 41" descr="Screenshot (111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1825" y="5132070"/>
            <a:ext cx="768350" cy="539750"/>
          </a:xfrm>
          <a:prstGeom prst="rect">
            <a:avLst/>
          </a:prstGeom>
        </p:spPr>
      </p:pic>
      <p:sp>
        <p:nvSpPr>
          <p:cNvPr id="44" name="Text Box 43"/>
          <p:cNvSpPr txBox="1"/>
          <p:nvPr/>
        </p:nvSpPr>
        <p:spPr>
          <a:xfrm>
            <a:off x="1353820" y="3526790"/>
            <a:ext cx="2520950" cy="22669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Enhance Tech Support Services</a:t>
            </a:r>
            <a:r>
              <a:rPr lang="en-IN" altLang="en-US" sz="16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</a:t>
            </a:r>
            <a:endParaRPr lang="en-US" altLang="en-US" sz="1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en-US" sz="1600" b="1">
                <a:solidFill>
                  <a:schemeClr val="bg1"/>
                </a:solidFill>
              </a:rPr>
              <a:t>Provide faster and more accessible support to improve customer satisfaction and retention</a:t>
            </a:r>
            <a:r>
              <a:rPr lang="en-IN" altLang="en-US" sz="1600" b="1">
                <a:solidFill>
                  <a:schemeClr val="bg1"/>
                </a:solidFill>
              </a:rPr>
              <a:t>.</a:t>
            </a:r>
            <a:endParaRPr lang="en-IN" altLang="en-US" sz="1600" b="1">
              <a:solidFill>
                <a:schemeClr val="bg1"/>
              </a:solidFill>
            </a:endParaRPr>
          </a:p>
        </p:txBody>
      </p:sp>
      <p:sp>
        <p:nvSpPr>
          <p:cNvPr id="45" name="Text Box 44"/>
          <p:cNvSpPr txBox="1"/>
          <p:nvPr/>
        </p:nvSpPr>
        <p:spPr>
          <a:xfrm>
            <a:off x="4191000" y="3526790"/>
            <a:ext cx="2514600" cy="22669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Improve Payment Experience</a:t>
            </a:r>
            <a:r>
              <a:rPr lang="en-IN" altLang="en-US" sz="16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</a:t>
            </a:r>
            <a:endParaRPr lang="en-US" altLang="en-US" sz="16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en-US" sz="1600" b="1">
                <a:solidFill>
                  <a:schemeClr val="bg1"/>
                </a:solidFill>
              </a:rPr>
              <a:t>Encourage customers to switch from electronic check to auto-pay methods for better retention</a:t>
            </a:r>
            <a:r>
              <a:rPr lang="en-IN" altLang="en-US" sz="1600" b="1">
                <a:solidFill>
                  <a:schemeClr val="bg1"/>
                </a:solidFill>
              </a:rPr>
              <a:t> .</a:t>
            </a:r>
            <a:endParaRPr lang="en-IN" altLang="en-US" sz="1600" b="1">
              <a:solidFill>
                <a:schemeClr val="bg1"/>
              </a:solidFill>
            </a:endParaRPr>
          </a:p>
        </p:txBody>
      </p:sp>
      <p:sp>
        <p:nvSpPr>
          <p:cNvPr id="46" name="Text Box 45"/>
          <p:cNvSpPr txBox="1"/>
          <p:nvPr/>
        </p:nvSpPr>
        <p:spPr>
          <a:xfrm>
            <a:off x="6879590" y="3526790"/>
            <a:ext cx="2506980" cy="226695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noAutofit/>
          </a:bodyPr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16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Improve Service Quality (Fiber Users)</a:t>
            </a:r>
            <a:r>
              <a:rPr lang="en-IN" altLang="en-US" sz="1600" b="1" u="sng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</a:t>
            </a:r>
            <a:endParaRPr lang="en-US" altLang="en-US" sz="1600" b="1" u="sng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altLang="en-US" sz="1600" b="1">
                <a:solidFill>
                  <a:schemeClr val="bg1"/>
                </a:solidFill>
              </a:rPr>
              <a:t>Investigate issues and enhance service quality for high-churn segments</a:t>
            </a:r>
            <a:r>
              <a:rPr lang="en-IN" altLang="en-US" sz="1600" b="1">
                <a:solidFill>
                  <a:schemeClr val="bg1"/>
                </a:solidFill>
              </a:rPr>
              <a:t>.</a:t>
            </a:r>
            <a:endParaRPr lang="en-IN" altLang="en-US" sz="1600" b="1">
              <a:solidFill>
                <a:schemeClr val="bg1"/>
              </a:solidFill>
            </a:endParaRPr>
          </a:p>
        </p:txBody>
      </p:sp>
      <p:sp>
        <p:nvSpPr>
          <p:cNvPr id="47" name="Text Box 46"/>
          <p:cNvSpPr txBox="1"/>
          <p:nvPr/>
        </p:nvSpPr>
        <p:spPr>
          <a:xfrm>
            <a:off x="694055" y="6007735"/>
            <a:ext cx="11121390" cy="64516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p>
            <a:r>
              <a:rPr lang="en-IN" altLang="en-US" b="1">
                <a:solidFill>
                  <a:schemeClr val="bg1"/>
                </a:solidFill>
              </a:rPr>
              <a:t>“</a:t>
            </a:r>
            <a:r>
              <a:rPr lang="en-US" altLang="en-US" b="1">
                <a:solidFill>
                  <a:schemeClr val="bg1"/>
                </a:solidFill>
              </a:rPr>
              <a:t>By implementing these strategies, the company can significantly reduce churn and improve long-term customer retention and revenue.</a:t>
            </a:r>
            <a:r>
              <a:rPr lang="en-IN" altLang="en-US" b="1">
                <a:solidFill>
                  <a:schemeClr val="bg1"/>
                </a:solidFill>
              </a:rPr>
              <a:t>”</a:t>
            </a:r>
            <a:endParaRPr lang="en-IN" altLang="en-US"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1185"/>
          </a:xfrm>
          <a:ln>
            <a:solidFill>
              <a:schemeClr val="bg1"/>
            </a:solidFill>
          </a:ln>
        </p:spPr>
        <p:txBody>
          <a:bodyPr vert="horz" lIns="91440" tIns="45720" rIns="91440" bIns="45720" rtlCol="0" anchor="ctr">
            <a:normAutofit fontScale="9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Conclusion</a:t>
            </a:r>
            <a:endParaRPr kumimoji="0" lang="en-US" altLang="en-US" sz="4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22530" name="组合 2"/>
          <p:cNvGrpSpPr/>
          <p:nvPr/>
        </p:nvGrpSpPr>
        <p:grpSpPr>
          <a:xfrm>
            <a:off x="6896100" y="1403350"/>
            <a:ext cx="6397625" cy="6527800"/>
            <a:chOff x="6894300" y="779786"/>
            <a:chExt cx="6398268" cy="6528610"/>
          </a:xfrm>
        </p:grpSpPr>
        <p:sp>
          <p:nvSpPr>
            <p:cNvPr id="5" name="空心弧 4"/>
            <p:cNvSpPr/>
            <p:nvPr/>
          </p:nvSpPr>
          <p:spPr>
            <a:xfrm rot="8065774">
              <a:off x="8008325" y="1957329"/>
              <a:ext cx="4142620" cy="4142620"/>
            </a:xfrm>
            <a:prstGeom prst="blockArc">
              <a:avLst>
                <a:gd name="adj1" fmla="val 10689728"/>
                <a:gd name="adj2" fmla="val 34534"/>
                <a:gd name="adj3" fmla="val 3576"/>
              </a:avLst>
            </a:prstGeom>
            <a:solidFill>
              <a:srgbClr val="1C7C5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6" name="空心弧 5"/>
            <p:cNvSpPr/>
            <p:nvPr/>
          </p:nvSpPr>
          <p:spPr>
            <a:xfrm rot="18179465" flipH="1">
              <a:off x="11098008" y="779786"/>
              <a:ext cx="2194560" cy="2194560"/>
            </a:xfrm>
            <a:prstGeom prst="blockArc">
              <a:avLst>
                <a:gd name="adj1" fmla="val 12768580"/>
                <a:gd name="adj2" fmla="val 20706870"/>
                <a:gd name="adj3" fmla="val 6908"/>
              </a:avLst>
            </a:prstGeom>
            <a:solidFill>
              <a:srgbClr val="E0864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  <p:sp>
          <p:nvSpPr>
            <p:cNvPr id="7" name="空心弧 6"/>
            <p:cNvSpPr/>
            <p:nvPr/>
          </p:nvSpPr>
          <p:spPr>
            <a:xfrm rot="19537149">
              <a:off x="6894300" y="5113836"/>
              <a:ext cx="2194560" cy="2194560"/>
            </a:xfrm>
            <a:prstGeom prst="blockArc">
              <a:avLst>
                <a:gd name="adj1" fmla="val 12768580"/>
                <a:gd name="adj2" fmla="val 20846844"/>
                <a:gd name="adj3" fmla="val 6651"/>
              </a:avLst>
            </a:prstGeom>
            <a:solidFill>
              <a:srgbClr val="675E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</a:endParaRPr>
            </a:p>
          </p:txBody>
        </p:sp>
      </p:grpSp>
      <p:graphicFrame>
        <p:nvGraphicFramePr>
          <p:cNvPr id="22534" name="图表 7"/>
          <p:cNvGraphicFramePr/>
          <p:nvPr/>
        </p:nvGraphicFramePr>
        <p:xfrm>
          <a:off x="8350250" y="2978150"/>
          <a:ext cx="3460750" cy="334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3468370" imgH="3352800" progId="Excel.Chart.8">
                  <p:embed/>
                </p:oleObj>
              </mc:Choice>
              <mc:Fallback>
                <p:oleObj name="" r:id="rId1" imgW="3468370" imgH="3352800" progId="Excel.Chart.8">
                  <p:embed/>
                  <p:pic>
                    <p:nvPicPr>
                      <p:cNvPr id="0" name="Picture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8350250" y="2978150"/>
                        <a:ext cx="3460750" cy="33464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5" name="矩形 8"/>
          <p:cNvSpPr/>
          <p:nvPr/>
        </p:nvSpPr>
        <p:spPr>
          <a:xfrm>
            <a:off x="6291580" y="3286125"/>
            <a:ext cx="2319020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en-US" altLang="en-US" sz="2000" b="1" dirty="0">
                <a:solidFill>
                  <a:srgbClr val="E36C6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charset="0"/>
                <a:ea typeface="Arial" panose="020B0604020202020204" pitchFamily="34" charset="0"/>
              </a:rPr>
              <a:t>Improve customer satisfaction</a:t>
            </a:r>
            <a:endParaRPr lang="en-US" altLang="en-US" sz="2000" b="1" dirty="0">
              <a:solidFill>
                <a:srgbClr val="E36C6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Light" panose="020F0302020204030204" charset="0"/>
              <a:ea typeface="Arial" panose="020B0604020202020204" pitchFamily="34" charset="0"/>
            </a:endParaRPr>
          </a:p>
        </p:txBody>
      </p:sp>
      <p:sp>
        <p:nvSpPr>
          <p:cNvPr id="22538" name="矩形 11"/>
          <p:cNvSpPr/>
          <p:nvPr/>
        </p:nvSpPr>
        <p:spPr>
          <a:xfrm>
            <a:off x="5878830" y="4573270"/>
            <a:ext cx="2359660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en-US" altLang="en-US" sz="2000" b="1" dirty="0">
                <a:solidFill>
                  <a:srgbClr val="675E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charset="0"/>
                <a:ea typeface="Arial" panose="020B0604020202020204" pitchFamily="34" charset="0"/>
              </a:rPr>
              <a:t>Increase long-term revenue</a:t>
            </a:r>
            <a:endParaRPr lang="en-US" altLang="en-US" sz="2000" b="1" dirty="0">
              <a:solidFill>
                <a:srgbClr val="675E8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Light" panose="020F0302020204030204" charset="0"/>
              <a:ea typeface="Arial" panose="020B0604020202020204" pitchFamily="34" charset="0"/>
            </a:endParaRPr>
          </a:p>
        </p:txBody>
      </p:sp>
      <p:sp>
        <p:nvSpPr>
          <p:cNvPr id="22541" name="矩形 14"/>
          <p:cNvSpPr/>
          <p:nvPr/>
        </p:nvSpPr>
        <p:spPr>
          <a:xfrm>
            <a:off x="9871710" y="4044950"/>
            <a:ext cx="1809750" cy="128778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noAutofit/>
          </a:bodyPr>
          <a:p>
            <a:pPr algn="ctr"/>
            <a:r>
              <a:rPr lang="en-US" altLang="en-US" sz="2800" b="1" u="sng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 Light" panose="020F0302020204030204" charset="0"/>
                <a:ea typeface="Arial" panose="020B0604020202020204" pitchFamily="34" charset="0"/>
              </a:rPr>
              <a:t>Key Outcome</a:t>
            </a:r>
            <a:endParaRPr lang="en-US" altLang="en-US" sz="2800" b="1" u="sng" dirty="0">
              <a:solidFill>
                <a:schemeClr val="accent4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 Light" panose="020F0302020204030204" charset="0"/>
              <a:ea typeface="Arial" panose="020B0604020202020204" pitchFamily="34" charset="0"/>
            </a:endParaRPr>
          </a:p>
        </p:txBody>
      </p:sp>
      <p:sp>
        <p:nvSpPr>
          <p:cNvPr id="22542" name="矩形 15"/>
          <p:cNvSpPr/>
          <p:nvPr/>
        </p:nvSpPr>
        <p:spPr>
          <a:xfrm>
            <a:off x="6186170" y="2485073"/>
            <a:ext cx="3041650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r"/>
            <a:r>
              <a:rPr lang="en-US" altLang="en-US" sz="1800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Arial" panose="020B0604020202020204" pitchFamily="34" charset="0"/>
              </a:rPr>
              <a:t>Reduce customer churn</a:t>
            </a:r>
            <a:endParaRPr lang="en-US" altLang="en-US" sz="1800" b="1" dirty="0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Arial" panose="020B0604020202020204" pitchFamily="34" charset="0"/>
            </a:endParaRPr>
          </a:p>
        </p:txBody>
      </p:sp>
      <p:cxnSp>
        <p:nvCxnSpPr>
          <p:cNvPr id="18" name="直接连接符 17"/>
          <p:cNvCxnSpPr/>
          <p:nvPr/>
        </p:nvCxnSpPr>
        <p:spPr>
          <a:xfrm>
            <a:off x="7993063" y="4903788"/>
            <a:ext cx="422275" cy="103188"/>
          </a:xfrm>
          <a:prstGeom prst="line">
            <a:avLst/>
          </a:prstGeom>
          <a:ln w="12700">
            <a:solidFill>
              <a:srgbClr val="675E8C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8312150" y="3648075"/>
            <a:ext cx="422275" cy="103188"/>
          </a:xfrm>
          <a:prstGeom prst="line">
            <a:avLst/>
          </a:prstGeom>
          <a:ln w="12700">
            <a:solidFill>
              <a:srgbClr val="E36C64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9289733" y="2778443"/>
            <a:ext cx="467360" cy="317500"/>
          </a:xfrm>
          <a:prstGeom prst="line">
            <a:avLst/>
          </a:prstGeom>
          <a:ln w="12700">
            <a:solidFill>
              <a:srgbClr val="E08648"/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 Box 1"/>
          <p:cNvSpPr txBox="1"/>
          <p:nvPr/>
        </p:nvSpPr>
        <p:spPr>
          <a:xfrm>
            <a:off x="6401435" y="2092960"/>
            <a:ext cx="5626100" cy="384175"/>
          </a:xfrm>
          <a:prstGeom prst="rect">
            <a:avLst/>
          </a:prstGeom>
        </p:spPr>
        <p:txBody>
          <a:bodyPr>
            <a:noAutofit/>
          </a:bodyPr>
          <a:p>
            <a:r>
              <a:rPr lang="zh-CN" altLang="en-US" sz="1600" b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👉 </a:t>
            </a:r>
            <a:r>
              <a:rPr lang="en-US" altLang="zh-CN" sz="1600" b="1" u="sng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Identified actionable insights that can help the business:</a:t>
            </a:r>
            <a:endParaRPr lang="en-US" altLang="zh-CN" sz="1600" b="1" u="sng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05130" y="1418590"/>
            <a:ext cx="5199380" cy="230695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p>
            <a:r>
              <a:rPr lang="en-US" altLang="en-US" b="1" u="sng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Project Summary</a:t>
            </a:r>
            <a:r>
              <a:rPr lang="en-IN" altLang="en-US" b="1" u="sng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:-</a:t>
            </a:r>
            <a:endParaRPr lang="en-US" altLang="en-US" b="1" u="sng">
              <a:solidFill>
                <a:schemeClr val="accent2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b="1">
                <a:solidFill>
                  <a:schemeClr val="bg1"/>
                </a:solidFill>
              </a:rPr>
              <a:t>Successfully analyzed customer data to identify key drivers of churn</a:t>
            </a:r>
            <a:r>
              <a:rPr lang="en-IN" altLang="en-US" b="1">
                <a:solidFill>
                  <a:schemeClr val="bg1"/>
                </a:solidFill>
              </a:rPr>
              <a:t>.</a:t>
            </a:r>
            <a:endParaRPr lang="en-US" altLang="en-US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b="1">
                <a:solidFill>
                  <a:schemeClr val="bg1"/>
                </a:solidFill>
              </a:rPr>
              <a:t>Discovered that contract type, tenure, pricing, and support services heavily influence churn behavior</a:t>
            </a:r>
            <a:r>
              <a:rPr lang="en-IN" altLang="en-US" b="1">
                <a:solidFill>
                  <a:schemeClr val="bg1"/>
                </a:solidFill>
              </a:rPr>
              <a:t>.</a:t>
            </a:r>
            <a:endParaRPr lang="en-US" altLang="en-US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b="1">
                <a:solidFill>
                  <a:schemeClr val="bg1"/>
                </a:solidFill>
              </a:rPr>
              <a:t>Built an interactive Power BI dashboard for clear and dynamic visualization</a:t>
            </a:r>
            <a:r>
              <a:rPr lang="en-IN" altLang="en-US" b="1">
                <a:solidFill>
                  <a:schemeClr val="bg1"/>
                </a:solidFill>
              </a:rPr>
              <a:t>.</a:t>
            </a:r>
            <a:endParaRPr lang="en-IN" altLang="en-US" b="1">
              <a:solidFill>
                <a:schemeClr val="bg1"/>
              </a:solidFill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05130" y="3842385"/>
            <a:ext cx="5200015" cy="2030095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>
            <a:spAutoFit/>
          </a:bodyPr>
          <a:p>
            <a:r>
              <a:rPr lang="en-US" altLang="en-US" b="1" u="sng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Learning</a:t>
            </a:r>
            <a:r>
              <a:rPr lang="en-IN" altLang="en-US" b="1" u="sng">
                <a:solidFill>
                  <a:schemeClr val="accent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:-</a:t>
            </a:r>
            <a:endParaRPr lang="en-US" altLang="en-US" b="1" u="sng">
              <a:solidFill>
                <a:schemeClr val="accent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b="1">
                <a:solidFill>
                  <a:schemeClr val="bg1"/>
                </a:solidFill>
              </a:rPr>
              <a:t>Strengthened skills in SQL, Python (EDA), and Power BI</a:t>
            </a:r>
            <a:r>
              <a:rPr lang="en-IN" altLang="en-US" b="1">
                <a:solidFill>
                  <a:schemeClr val="bg1"/>
                </a:solidFill>
              </a:rPr>
              <a:t>.</a:t>
            </a:r>
            <a:endParaRPr lang="en-US" altLang="en-US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b="1">
                <a:solidFill>
                  <a:schemeClr val="bg1"/>
                </a:solidFill>
              </a:rPr>
              <a:t>Gained hands-on experience in data cleaning, analysis, and visualization</a:t>
            </a:r>
            <a:r>
              <a:rPr lang="en-IN" altLang="en-US" b="1">
                <a:solidFill>
                  <a:schemeClr val="bg1"/>
                </a:solidFill>
              </a:rPr>
              <a:t>.</a:t>
            </a:r>
            <a:endParaRPr lang="en-US" altLang="en-US" b="1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en-US" b="1">
                <a:solidFill>
                  <a:schemeClr val="bg1"/>
                </a:solidFill>
              </a:rPr>
              <a:t>Improved ability to convert data into business insights</a:t>
            </a:r>
            <a:r>
              <a:rPr lang="en-IN" altLang="en-US" b="1">
                <a:solidFill>
                  <a:schemeClr val="bg1"/>
                </a:solidFill>
              </a:rPr>
              <a:t>.</a:t>
            </a:r>
            <a:endParaRPr lang="en-IN" altLang="en-US" b="1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3438525" y="2051368"/>
            <a:ext cx="7913688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7200" b="1" i="0" u="none" strike="noStrike" kern="1200" cap="none" spc="300" normalizeH="0" baseline="0" noProof="0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Thank </a:t>
            </a:r>
            <a:r>
              <a:rPr kumimoji="0" lang="en-IN" altLang="en-US" sz="7200" b="1" i="0" u="none" strike="noStrike" kern="1200" cap="none" spc="300" normalizeH="0" baseline="0" noProof="0" dirty="0"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  <a:uLnTx/>
                <a:uFillTx/>
                <a:latin typeface="+mj-lt"/>
                <a:ea typeface="+mj-ea"/>
                <a:cs typeface="+mj-cs"/>
              </a:rPr>
              <a:t>You</a:t>
            </a:r>
            <a:endParaRPr kumimoji="0" lang="en-IN" altLang="en-US" sz="7200" b="1" i="0" u="none" strike="noStrike" kern="1200" cap="none" spc="300" normalizeH="0" baseline="0" noProof="0" dirty="0"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26626" name="副标题 2"/>
          <p:cNvSpPr>
            <a:spLocks noGrp="1"/>
          </p:cNvSpPr>
          <p:nvPr>
            <p:ph type="subTitle" idx="1"/>
          </p:nvPr>
        </p:nvSpPr>
        <p:spPr>
          <a:xfrm>
            <a:off x="3438525" y="4439285"/>
            <a:ext cx="7914005" cy="1119505"/>
          </a:xfrm>
        </p:spPr>
        <p:txBody>
          <a:bodyPr wrap="square" lIns="91440" tIns="45720" rIns="91440" bIns="45720" anchor="t" anchorCtr="0"/>
          <a:p>
            <a:pPr defTabSz="914400">
              <a:buClrTx/>
              <a:buSzTx/>
            </a:pPr>
            <a:r>
              <a:rPr lang="en-US" altLang="en-US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+mn-ea"/>
              </a:rPr>
              <a:t>“This project demonstrates how data-driven insights can help businesses make smarter decisions and improve customer retention.”</a:t>
            </a:r>
            <a:endParaRPr lang="zh-CN" altLang="en-US" kern="1200" dirty="0">
              <a:latin typeface="+mn-lt"/>
              <a:ea typeface="Arial" panose="020B0604020202020204" pitchFamily="34" charset="0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eelOff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雅黑细">
      <a:majorFont>
        <a:latin typeface="Calibri Light"/>
        <a:ea typeface="Arial"/>
        <a:cs typeface=""/>
      </a:majorFont>
      <a:minorFont>
        <a:latin typeface="Calibri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Arial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8334</Words>
  <Application>WPS Presentation</Application>
  <PresentationFormat>宽屏</PresentationFormat>
  <Paragraphs>297</Paragraphs>
  <Slides>20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Arial</vt:lpstr>
      <vt:lpstr>SimSun</vt:lpstr>
      <vt:lpstr>Wingdings</vt:lpstr>
      <vt:lpstr>Calibri</vt:lpstr>
      <vt:lpstr>Microsoft YaHei Light</vt:lpstr>
      <vt:lpstr>Wingdings</vt:lpstr>
      <vt:lpstr>Microsoft YaHei</vt:lpstr>
      <vt:lpstr>Arial Unicode MS</vt:lpstr>
      <vt:lpstr>Calibri Light</vt:lpstr>
      <vt:lpstr>Office Theme</vt:lpstr>
      <vt:lpstr>Excel.Chart.8</vt:lpstr>
      <vt:lpstr>“Customer Churn Analysis in Telecom Industry”</vt:lpstr>
      <vt:lpstr>Title: Customer Churn Analysis Using SQL, Python, and Power BIr title</vt:lpstr>
      <vt:lpstr>“Customer Churn Analysis in Telecom Industry”</vt:lpstr>
      <vt:lpstr>“Customer Churn Analysis in Telecom Industry”</vt:lpstr>
      <vt:lpstr>“Customer Churn Analysis in Telecom Industry”</vt:lpstr>
      <vt:lpstr> Data Cleaning (SQL) </vt:lpstr>
      <vt:lpstr>SQL Analysis Overview</vt:lpstr>
      <vt:lpstr>SQL Analysis Overview</vt:lpstr>
      <vt:lpstr> Exploratory Data Analysis (EDA) Using Python  </vt:lpstr>
      <vt:lpstr> Exploratory Data Analysis (EDA) Using Python  </vt:lpstr>
      <vt:lpstr> Exploratory Data Analysis (EDA) Using Python  </vt:lpstr>
      <vt:lpstr> Exploratory Data Analysis (EDA) Using Python  </vt:lpstr>
      <vt:lpstr> Exploratory Data Analysis (EDA) Using Python  </vt:lpstr>
      <vt:lpstr> Exploratory Data Analysis (EDA) Using Python  </vt:lpstr>
      <vt:lpstr>Customer Churn Insights </vt:lpstr>
      <vt:lpstr>Power BI Dashboard</vt:lpstr>
      <vt:lpstr>Interactive Dashboard Overview :-</vt:lpstr>
      <vt:lpstr>Business Recommendations</vt:lpstr>
      <vt:lpstr>Conclusion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annjo</dc:creator>
  <cp:lastModifiedBy>Preksha Jain</cp:lastModifiedBy>
  <cp:revision>39</cp:revision>
  <dcterms:created xsi:type="dcterms:W3CDTF">2015-10-06T12:45:00Z</dcterms:created>
  <dcterms:modified xsi:type="dcterms:W3CDTF">2026-04-20T11:06:36Z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1033-12.1.0.25830</vt:lpwstr>
  </property>
  <property fmtid="{D5CDD505-2E9C-101B-9397-08002B2CF9AE}" pid="3" name="ICV">
    <vt:lpwstr>DB18DA6B8D0F470A813D16EA6EF5270E_12</vt:lpwstr>
  </property>
</Properties>
</file>